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1727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will present an end-to-end machine learning solution that predicts whether a drone delivery will arrive on time. The objective was not only to achieve strong predictive performance but also to develop an interpretable model that can support operational decision-making. I was inspired by the drone delivery case study from the Vodafone assessment centre and wanted to explore it further using real machine learning techniques.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demonstrate the methodology, a public drone-delivery dataset was used. However, the same predictive framework could support healthcare logistics, such as medicine or emergency medical supply deliveries. This aligns well with connected logistics and healthcare applications like those discussed during the Vodafone assessment centre.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comes from a Kaggle competition on drone delivery prediction. It contains around 40,000 training deliveries and 10,000 test deliveries with 9 features. The target is roughly 60/40 on-time vs late, so it is a balanced binary classification problem. The data is clean with no missing values.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EDA starts with the two original numerical features: distance and payload. Both show a clear relationship with the target — late deliveries tend to have longer distances and heavier payloads. The correlation heatmap on the right shows all numerical features including the engineered ones. Wind average and wind gust are correlated at 0.84, but both carry distinct information so we kept both in the model. Route length has the strongest negative correlation with on-time delivery at minus 0.44.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key categorical features are drone model and operator strategy. Drone model B shows the highest on-time rate. Operator tag is the more interesting finding — aggressive operators have the highest on-time rate at 68%, while safe operators have the lowest at 53%. This counterintuitive result was verified: we checked whether aggressive operators simply get assigned shorter or lighter missions, and the answer is no — mission characteristics are essentially identical across all three operator groups. So the effect is genuine.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strongest parts of this project is the feature engineering. Three raw string columns are parsed into seven numeric features. All this logic lives in a reusable scikit-learn transformer inside the src package, so the exact same code runs in every notebook. This ensures reproducibility and avoids copy-paste errors.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pipeline goes from raw data through feature engineering, preprocessing, hyperparameter tuning with RandomizedSearchCV, to model comparison using bootstrap confidence intervals. Three model families were compared. All preprocessing happens inside the sklearn pipeline, so there is no data leakage. The validation uses an 80/20 stratified split, 5-fold cross-validation for tuning, and 1000 bootstrap resamples for confidence intervals on the final metrics.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bootstrap confidence intervals for ROC-AUC overlap heavily between Logistic Regression at 0.911 and HistGradient Boosting at 0.909. The honest claim is that the two models perform comparably, not that one definitively outperforms the other. We select Logistic Regression primarily for its interpretability — it gives direct coefficients and odds ratios that map to actionable business insights.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detailed evaluation of the selected Logistic Regression model. The confusion matrix shows the error profile — errors are roughly balanced between false positives and false negatives, which means the model is not systematically biased toward one type of mistake. The ROC curve confirms the 0.911 AUC from the table, and the precision-recall curve shows an AUC of 0.944, meaning high precision is maintained even at high recall levels. This is especially important for a dispatch decision tool where you don't want to approve too many high-risk deliveries.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two views of the same model. On the left, the individual coefficient plot shows which specific features drive on-time delivery — route length is the single strongest driver, followed by payload and direction changes. On the right, the feature-family importance chart groups these into business categories. Route complexity emerged as the strongest operational driver, followed by payload, operator strategy, and wind. This grouped view is more natural for a manager because it maps directly onto operational levers: route planning, payload limits, drone selection, operator assignment, and weather-based scheduling. Landing zones are included in the model for accuracy but excluded from both charts because they represent hundreds of specific location labels, not general operational levers.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replacing dispatchers, the model acts as a decision-support tool by identifying deliveries that may require additional attention before departure. The three-tier probability table converts raw predictions into actionable dispatch decisions. When discussing medicine delivery, this is an example application of the methodology, not the dataset itself — but it connects naturally to the healthcare logistics themes from the Vodafone assessment.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demonstrates how explainable machine learning can support operational decision-making. While developed using a public drone delivery dataset, the same methodology could be applied to connected logistics scenarios such as medicine delivery, where timely and reliable transportation is critical. Future work could include live weather APIs, GPS trajectory data, IoT sensor integration from the drones themselves, a real-time dashboard for dispatchers, and continuous model retraining as new data comes 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6.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4.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6.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7.png"/><Relationship Id="rId7"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E60000"/>
          </a:solidFill>
          <a:ln/>
        </p:spPr>
      </p:sp>
      <p:sp>
        <p:nvSpPr>
          <p:cNvPr id="3" name="Text 1"/>
          <p:cNvSpPr/>
          <p:nvPr/>
        </p:nvSpPr>
        <p:spPr>
          <a:xfrm>
            <a:off x="731520" y="1097280"/>
            <a:ext cx="6858000" cy="2011680"/>
          </a:xfrm>
          <a:prstGeom prst="rect">
            <a:avLst/>
          </a:prstGeom>
          <a:noFill/>
          <a:ln/>
        </p:spPr>
        <p:txBody>
          <a:bodyPr wrap="square" lIns="0" tIns="0" rIns="0" bIns="0" rtlCol="0" anchor="ctr"/>
          <a:lstStyle/>
          <a:p>
            <a:pPr marL="0" indent="0">
              <a:lnSpc>
                <a:spcPts val="5200"/>
              </a:lnSpc>
              <a:buNone/>
            </a:pPr>
            <a:r>
              <a:rPr lang="en-US" sz="6000" b="1" dirty="0">
                <a:solidFill>
                  <a:srgbClr val="FFFFFF"/>
                </a:solidFill>
                <a:latin typeface="Calibri" pitchFamily="34" charset="0"/>
                <a:ea typeface="Calibri" pitchFamily="34" charset="-122"/>
                <a:cs typeface="Calibri" pitchFamily="34" charset="-120"/>
              </a:rPr>
              <a:t>Predicting On-Time</a:t>
            </a:r>
            <a:endParaRPr lang="en-US" sz="6000" dirty="0"/>
          </a:p>
          <a:p>
            <a:pPr marL="0" indent="0">
              <a:lnSpc>
                <a:spcPts val="5200"/>
              </a:lnSpc>
              <a:buNone/>
            </a:pPr>
            <a:r>
              <a:rPr lang="en-US" sz="6000" b="1" dirty="0">
                <a:solidFill>
                  <a:srgbClr val="FFFFFF"/>
                </a:solidFill>
                <a:latin typeface="Calibri" pitchFamily="34" charset="0"/>
                <a:ea typeface="Calibri" pitchFamily="34" charset="-122"/>
                <a:cs typeface="Calibri" pitchFamily="34" charset="-120"/>
              </a:rPr>
              <a:t>Drone Deliveries</a:t>
            </a:r>
            <a:endParaRPr lang="en-US" sz="6000" dirty="0"/>
          </a:p>
        </p:txBody>
      </p:sp>
      <p:sp>
        <p:nvSpPr>
          <p:cNvPr id="4" name="Text 2"/>
          <p:cNvSpPr/>
          <p:nvPr/>
        </p:nvSpPr>
        <p:spPr>
          <a:xfrm>
            <a:off x="731520" y="3584448"/>
            <a:ext cx="6400800" cy="548640"/>
          </a:xfrm>
          <a:prstGeom prst="rect">
            <a:avLst/>
          </a:prstGeom>
          <a:noFill/>
          <a:ln/>
        </p:spPr>
        <p:txBody>
          <a:bodyPr wrap="square" lIns="0" tIns="0" rIns="0" bIns="0" rtlCol="0" anchor="ctr"/>
          <a:lstStyle/>
          <a:p>
            <a:pPr marL="0" indent="0">
              <a:buNone/>
            </a:pPr>
            <a:r>
              <a:rPr lang="en-US" sz="2400" i="1" dirty="0">
                <a:solidFill>
                  <a:srgbClr val="E60000"/>
                </a:solidFill>
                <a:latin typeface="Calibri" pitchFamily="34" charset="0"/>
                <a:ea typeface="Calibri" pitchFamily="34" charset="-122"/>
                <a:cs typeface="Calibri" pitchFamily="34" charset="-120"/>
              </a:rPr>
              <a:t>An Explainable AI Solution for Operational Decision Support</a:t>
            </a:r>
            <a:endParaRPr lang="en-US" sz="2400" dirty="0"/>
          </a:p>
        </p:txBody>
      </p:sp>
      <p:sp>
        <p:nvSpPr>
          <p:cNvPr id="13" name="Shape 11"/>
          <p:cNvSpPr/>
          <p:nvPr/>
        </p:nvSpPr>
        <p:spPr>
          <a:xfrm>
            <a:off x="8686800" y="1371600"/>
            <a:ext cx="822960" cy="822960"/>
          </a:xfrm>
          <a:prstGeom prst="ellipse">
            <a:avLst/>
          </a:prstGeom>
          <a:solidFill>
            <a:srgbClr val="E60000"/>
          </a:solidFill>
          <a:ln/>
        </p:spPr>
      </p:sp>
      <p:pic>
        <p:nvPicPr>
          <p:cNvPr id="14" name="Image 0" descr="preencoded.png"/>
          <p:cNvPicPr>
            <a:picLocks noChangeAspect="1"/>
          </p:cNvPicPr>
          <p:nvPr/>
        </p:nvPicPr>
        <p:blipFill>
          <a:blip r:embed="rId3"/>
          <a:stretch>
            <a:fillRect/>
          </a:stretch>
        </p:blipFill>
        <p:spPr>
          <a:xfrm>
            <a:off x="8769096" y="1453896"/>
            <a:ext cx="658368" cy="658368"/>
          </a:xfrm>
          <a:prstGeom prst="rect">
            <a:avLst/>
          </a:prstGeom>
        </p:spPr>
      </p:pic>
      <p:sp>
        <p:nvSpPr>
          <p:cNvPr id="15" name="Shape 12"/>
          <p:cNvSpPr/>
          <p:nvPr/>
        </p:nvSpPr>
        <p:spPr>
          <a:xfrm>
            <a:off x="9875520" y="2560320"/>
            <a:ext cx="640080" cy="640080"/>
          </a:xfrm>
          <a:prstGeom prst="ellipse">
            <a:avLst/>
          </a:prstGeom>
          <a:solidFill>
            <a:srgbClr val="333355"/>
          </a:solidFill>
          <a:ln/>
        </p:spPr>
      </p:sp>
      <p:pic>
        <p:nvPicPr>
          <p:cNvPr id="16" name="Image 1" descr="preencoded.png"/>
          <p:cNvPicPr>
            <a:picLocks noChangeAspect="1"/>
          </p:cNvPicPr>
          <p:nvPr/>
        </p:nvPicPr>
        <p:blipFill>
          <a:blip r:embed="rId4"/>
          <a:stretch>
            <a:fillRect/>
          </a:stretch>
        </p:blipFill>
        <p:spPr>
          <a:xfrm>
            <a:off x="9939528" y="2624328"/>
            <a:ext cx="512064" cy="512064"/>
          </a:xfrm>
          <a:prstGeom prst="rect">
            <a:avLst/>
          </a:prstGeom>
        </p:spPr>
      </p:pic>
      <p:sp>
        <p:nvSpPr>
          <p:cNvPr id="17" name="Shape 13"/>
          <p:cNvSpPr/>
          <p:nvPr/>
        </p:nvSpPr>
        <p:spPr>
          <a:xfrm>
            <a:off x="8412480" y="3200400"/>
            <a:ext cx="548640" cy="548640"/>
          </a:xfrm>
          <a:prstGeom prst="ellipse">
            <a:avLst/>
          </a:prstGeom>
          <a:solidFill>
            <a:srgbClr val="333355"/>
          </a:solidFill>
          <a:ln/>
        </p:spPr>
      </p:sp>
      <p:pic>
        <p:nvPicPr>
          <p:cNvPr id="18" name="Image 2" descr="preencoded.png"/>
          <p:cNvPicPr>
            <a:picLocks noChangeAspect="1"/>
          </p:cNvPicPr>
          <p:nvPr/>
        </p:nvPicPr>
        <p:blipFill>
          <a:blip r:embed="rId5"/>
          <a:stretch>
            <a:fillRect/>
          </a:stretch>
        </p:blipFill>
        <p:spPr>
          <a:xfrm>
            <a:off x="8467344" y="3255264"/>
            <a:ext cx="438912" cy="438912"/>
          </a:xfrm>
          <a:prstGeom prst="rect">
            <a:avLst/>
          </a:prstGeom>
        </p:spPr>
      </p:pic>
      <p:sp>
        <p:nvSpPr>
          <p:cNvPr id="19" name="Shape 14"/>
          <p:cNvSpPr/>
          <p:nvPr/>
        </p:nvSpPr>
        <p:spPr>
          <a:xfrm>
            <a:off x="10241280" y="1463040"/>
            <a:ext cx="594360" cy="594360"/>
          </a:xfrm>
          <a:prstGeom prst="ellipse">
            <a:avLst/>
          </a:prstGeom>
          <a:solidFill>
            <a:srgbClr val="333355"/>
          </a:solidFill>
          <a:ln/>
        </p:spPr>
      </p:sp>
      <p:pic>
        <p:nvPicPr>
          <p:cNvPr id="20" name="Image 3" descr="preencoded.png"/>
          <p:cNvPicPr>
            <a:picLocks noChangeAspect="1"/>
          </p:cNvPicPr>
          <p:nvPr/>
        </p:nvPicPr>
        <p:blipFill>
          <a:blip r:embed="rId6"/>
          <a:stretch>
            <a:fillRect/>
          </a:stretch>
        </p:blipFill>
        <p:spPr>
          <a:xfrm>
            <a:off x="10300716" y="1522476"/>
            <a:ext cx="475488" cy="475488"/>
          </a:xfrm>
          <a:prstGeom prst="rect">
            <a:avLst/>
          </a:prstGeom>
        </p:spPr>
      </p:pic>
      <p:sp>
        <p:nvSpPr>
          <p:cNvPr id="21" name="Text 15"/>
          <p:cNvSpPr/>
          <p:nvPr/>
        </p:nvSpPr>
        <p:spPr>
          <a:xfrm>
            <a:off x="610750" y="4608576"/>
            <a:ext cx="4572000" cy="365760"/>
          </a:xfrm>
          <a:prstGeom prst="rect">
            <a:avLst/>
          </a:prstGeom>
          <a:noFill/>
          <a:ln/>
        </p:spPr>
        <p:txBody>
          <a:bodyPr wrap="square" lIns="0" tIns="0" rIns="0" bIns="0" rtlCol="0" anchor="ctr"/>
          <a:lstStyle/>
          <a:p>
            <a:pPr marL="0" indent="0">
              <a:buNone/>
            </a:pPr>
            <a:r>
              <a:rPr lang="en-US" sz="2000" dirty="0">
                <a:solidFill>
                  <a:srgbClr val="999999"/>
                </a:solidFill>
                <a:latin typeface="Calibri" pitchFamily="34" charset="0"/>
                <a:ea typeface="Calibri" pitchFamily="34" charset="-122"/>
                <a:cs typeface="Calibri" pitchFamily="34" charset="-120"/>
              </a:rPr>
              <a:t>Paraskevi Dimitrakou</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2124" y="414499"/>
            <a:ext cx="5486400" cy="640080"/>
          </a:xfrm>
          <a:prstGeom prst="rect">
            <a:avLst/>
          </a:prstGeom>
          <a:noFill/>
          <a:ln/>
        </p:spPr>
        <p:txBody>
          <a:bodyPr wrap="square" lIns="0" tIns="0" rIns="0" bIns="0" rtlCol="0" anchor="ctr"/>
          <a:lstStyle/>
          <a:p>
            <a:pPr marL="0" indent="0">
              <a:buNone/>
            </a:pPr>
            <a:r>
              <a:rPr lang="en-US" sz="3600" b="1" dirty="0">
                <a:solidFill>
                  <a:srgbClr val="1A1A2E"/>
                </a:solidFill>
                <a:latin typeface="Calibri" pitchFamily="34" charset="0"/>
                <a:ea typeface="Calibri" pitchFamily="34" charset="-122"/>
                <a:cs typeface="Calibri" pitchFamily="34" charset="-120"/>
              </a:rPr>
              <a:t>The Business Problem</a:t>
            </a:r>
            <a:endParaRPr lang="en-US" sz="3600" dirty="0"/>
          </a:p>
        </p:txBody>
      </p:sp>
      <p:pic>
        <p:nvPicPr>
          <p:cNvPr id="3" name="Image 0" descr="preencoded.png"/>
          <p:cNvPicPr>
            <a:picLocks noChangeAspect="1"/>
          </p:cNvPicPr>
          <p:nvPr/>
        </p:nvPicPr>
        <p:blipFill>
          <a:blip r:embed="rId3"/>
          <a:stretch>
            <a:fillRect/>
          </a:stretch>
        </p:blipFill>
        <p:spPr>
          <a:xfrm>
            <a:off x="685800" y="1747022"/>
            <a:ext cx="274320" cy="274320"/>
          </a:xfrm>
          <a:prstGeom prst="rect">
            <a:avLst/>
          </a:prstGeom>
        </p:spPr>
      </p:pic>
      <p:sp>
        <p:nvSpPr>
          <p:cNvPr id="4" name="Text 1"/>
          <p:cNvSpPr/>
          <p:nvPr/>
        </p:nvSpPr>
        <p:spPr>
          <a:xfrm>
            <a:off x="1097280" y="1728734"/>
            <a:ext cx="4754880" cy="347472"/>
          </a:xfrm>
          <a:prstGeom prst="rect">
            <a:avLst/>
          </a:prstGeom>
          <a:noFill/>
          <a:ln/>
        </p:spPr>
        <p:txBody>
          <a:bodyPr wrap="square" lIns="0" tIns="0" rIns="0" bIns="0" rtlCol="0" anchor="ctr"/>
          <a:lstStyle/>
          <a:p>
            <a:pPr marL="0" indent="0">
              <a:buNone/>
            </a:pPr>
            <a:r>
              <a:rPr lang="en-US" sz="1400" dirty="0">
                <a:solidFill>
                  <a:srgbClr val="444444"/>
                </a:solidFill>
                <a:latin typeface="Calibri" pitchFamily="34" charset="0"/>
                <a:ea typeface="Calibri" pitchFamily="34" charset="-122"/>
                <a:cs typeface="Calibri" pitchFamily="34" charset="-120"/>
              </a:rPr>
              <a:t>Drone deliveries are growing rapidly across logistics</a:t>
            </a:r>
            <a:endParaRPr lang="en-US" sz="1400" dirty="0"/>
          </a:p>
        </p:txBody>
      </p:sp>
      <p:pic>
        <p:nvPicPr>
          <p:cNvPr id="5" name="Image 1" descr="preencoded.png"/>
          <p:cNvPicPr>
            <a:picLocks noChangeAspect="1"/>
          </p:cNvPicPr>
          <p:nvPr/>
        </p:nvPicPr>
        <p:blipFill>
          <a:blip r:embed="rId4"/>
          <a:stretch>
            <a:fillRect/>
          </a:stretch>
        </p:blipFill>
        <p:spPr>
          <a:xfrm>
            <a:off x="685800" y="2249942"/>
            <a:ext cx="274320" cy="274320"/>
          </a:xfrm>
          <a:prstGeom prst="rect">
            <a:avLst/>
          </a:prstGeom>
        </p:spPr>
      </p:pic>
      <p:sp>
        <p:nvSpPr>
          <p:cNvPr id="6" name="Text 2"/>
          <p:cNvSpPr/>
          <p:nvPr/>
        </p:nvSpPr>
        <p:spPr>
          <a:xfrm>
            <a:off x="1097280" y="2231654"/>
            <a:ext cx="4754880" cy="347472"/>
          </a:xfrm>
          <a:prstGeom prst="rect">
            <a:avLst/>
          </a:prstGeom>
          <a:noFill/>
          <a:ln/>
        </p:spPr>
        <p:txBody>
          <a:bodyPr wrap="square" lIns="0" tIns="0" rIns="0" bIns="0" rtlCol="0" anchor="ctr"/>
          <a:lstStyle/>
          <a:p>
            <a:pPr marL="0" indent="0">
              <a:buNone/>
            </a:pPr>
            <a:r>
              <a:rPr lang="en-US" sz="1400" dirty="0">
                <a:solidFill>
                  <a:srgbClr val="444444"/>
                </a:solidFill>
                <a:latin typeface="Calibri" pitchFamily="34" charset="0"/>
                <a:ea typeface="Calibri" pitchFamily="34" charset="-122"/>
                <a:cs typeface="Calibri" pitchFamily="34" charset="-120"/>
              </a:rPr>
              <a:t>Delays reduce customer satisfaction and operational efficiency</a:t>
            </a:r>
            <a:endParaRPr lang="en-US" sz="1400" dirty="0"/>
          </a:p>
        </p:txBody>
      </p:sp>
      <p:pic>
        <p:nvPicPr>
          <p:cNvPr id="7" name="Image 2" descr="preencoded.png"/>
          <p:cNvPicPr>
            <a:picLocks noChangeAspect="1"/>
          </p:cNvPicPr>
          <p:nvPr/>
        </p:nvPicPr>
        <p:blipFill>
          <a:blip r:embed="rId5"/>
          <a:stretch>
            <a:fillRect/>
          </a:stretch>
        </p:blipFill>
        <p:spPr>
          <a:xfrm>
            <a:off x="685800" y="2752862"/>
            <a:ext cx="274320" cy="274320"/>
          </a:xfrm>
          <a:prstGeom prst="rect">
            <a:avLst/>
          </a:prstGeom>
        </p:spPr>
      </p:pic>
      <p:sp>
        <p:nvSpPr>
          <p:cNvPr id="8" name="Text 3"/>
          <p:cNvSpPr/>
          <p:nvPr/>
        </p:nvSpPr>
        <p:spPr>
          <a:xfrm>
            <a:off x="1097280" y="2734574"/>
            <a:ext cx="4754880" cy="347472"/>
          </a:xfrm>
          <a:prstGeom prst="rect">
            <a:avLst/>
          </a:prstGeom>
          <a:noFill/>
          <a:ln/>
        </p:spPr>
        <p:txBody>
          <a:bodyPr wrap="square" lIns="0" tIns="0" rIns="0" bIns="0" rtlCol="0" anchor="ctr"/>
          <a:lstStyle/>
          <a:p>
            <a:pPr marL="0" indent="0">
              <a:buNone/>
            </a:pPr>
            <a:r>
              <a:rPr lang="en-US" sz="1400" dirty="0">
                <a:solidFill>
                  <a:srgbClr val="444444"/>
                </a:solidFill>
                <a:latin typeface="Calibri" pitchFamily="34" charset="0"/>
                <a:ea typeface="Calibri" pitchFamily="34" charset="-122"/>
                <a:cs typeface="Calibri" pitchFamily="34" charset="-120"/>
              </a:rPr>
              <a:t>Dispatchers need early visibility of delivery risk</a:t>
            </a:r>
            <a:endParaRPr lang="en-US" sz="1400" dirty="0"/>
          </a:p>
        </p:txBody>
      </p:sp>
      <p:pic>
        <p:nvPicPr>
          <p:cNvPr id="9" name="Image 3" descr="preencoded.png"/>
          <p:cNvPicPr>
            <a:picLocks noChangeAspect="1"/>
          </p:cNvPicPr>
          <p:nvPr/>
        </p:nvPicPr>
        <p:blipFill>
          <a:blip r:embed="rId6"/>
          <a:stretch>
            <a:fillRect/>
          </a:stretch>
        </p:blipFill>
        <p:spPr>
          <a:xfrm>
            <a:off x="685800" y="3255782"/>
            <a:ext cx="274320" cy="274320"/>
          </a:xfrm>
          <a:prstGeom prst="rect">
            <a:avLst/>
          </a:prstGeom>
        </p:spPr>
      </p:pic>
      <p:sp>
        <p:nvSpPr>
          <p:cNvPr id="10" name="Text 4"/>
          <p:cNvSpPr/>
          <p:nvPr/>
        </p:nvSpPr>
        <p:spPr>
          <a:xfrm>
            <a:off x="1097280" y="3237494"/>
            <a:ext cx="4754880" cy="347472"/>
          </a:xfrm>
          <a:prstGeom prst="rect">
            <a:avLst/>
          </a:prstGeom>
          <a:noFill/>
          <a:ln/>
        </p:spPr>
        <p:txBody>
          <a:bodyPr wrap="square" lIns="0" tIns="0" rIns="0" bIns="0" rtlCol="0" anchor="ctr"/>
          <a:lstStyle/>
          <a:p>
            <a:pPr marL="0" indent="0">
              <a:buNone/>
            </a:pPr>
            <a:r>
              <a:rPr lang="en-US" sz="1400" dirty="0">
                <a:solidFill>
                  <a:srgbClr val="444444"/>
                </a:solidFill>
                <a:latin typeface="Calibri" pitchFamily="34" charset="0"/>
                <a:ea typeface="Calibri" pitchFamily="34" charset="-122"/>
                <a:cs typeface="Calibri" pitchFamily="34" charset="-120"/>
              </a:rPr>
              <a:t>Better pre-dispatch planning improves on-time rates</a:t>
            </a:r>
            <a:endParaRPr lang="en-US" sz="1400" dirty="0"/>
          </a:p>
        </p:txBody>
      </p:sp>
      <p:sp>
        <p:nvSpPr>
          <p:cNvPr id="11" name="Shape 5"/>
          <p:cNvSpPr/>
          <p:nvPr/>
        </p:nvSpPr>
        <p:spPr>
          <a:xfrm>
            <a:off x="6858000" y="1353312"/>
            <a:ext cx="4572000" cy="2743200"/>
          </a:xfrm>
          <a:prstGeom prst="roundRect">
            <a:avLst>
              <a:gd name="adj" fmla="val 4000"/>
            </a:avLst>
          </a:prstGeom>
          <a:solidFill>
            <a:srgbClr val="F5F5F5"/>
          </a:solidFill>
          <a:ln/>
          <a:effectLst>
            <a:outerShdw blurRad="76200" dist="25400" dir="8100000" algn="bl" rotWithShape="0">
              <a:srgbClr val="CCCCCC">
                <a:alpha val="40000"/>
              </a:srgbClr>
            </a:outerShdw>
          </a:effectLst>
        </p:spPr>
      </p:sp>
      <p:sp>
        <p:nvSpPr>
          <p:cNvPr id="12" name="Text 6"/>
          <p:cNvSpPr/>
          <p:nvPr/>
        </p:nvSpPr>
        <p:spPr>
          <a:xfrm>
            <a:off x="7132320" y="1490472"/>
            <a:ext cx="4023360" cy="365760"/>
          </a:xfrm>
          <a:prstGeom prst="rect">
            <a:avLst/>
          </a:prstGeom>
          <a:noFill/>
          <a:ln/>
        </p:spPr>
        <p:txBody>
          <a:bodyPr wrap="square" lIns="0" tIns="0" rIns="0" bIns="0" rtlCol="0" anchor="ctr"/>
          <a:lstStyle/>
          <a:p>
            <a:pPr marL="0" indent="0">
              <a:buNone/>
            </a:pPr>
            <a:r>
              <a:rPr lang="en-US" sz="1500" b="1" dirty="0">
                <a:solidFill>
                  <a:srgbClr val="E60000"/>
                </a:solidFill>
                <a:latin typeface="Calibri" pitchFamily="34" charset="0"/>
                <a:ea typeface="Calibri" pitchFamily="34" charset="-122"/>
                <a:cs typeface="Calibri" pitchFamily="34" charset="-120"/>
              </a:rPr>
              <a:t>Healthcare &amp; Logistics Applications</a:t>
            </a:r>
            <a:endParaRPr lang="en-US" sz="1500" dirty="0"/>
          </a:p>
        </p:txBody>
      </p:sp>
      <p:pic>
        <p:nvPicPr>
          <p:cNvPr id="13" name="Image 4" descr="preencoded.png"/>
          <p:cNvPicPr>
            <a:picLocks noChangeAspect="1"/>
          </p:cNvPicPr>
          <p:nvPr/>
        </p:nvPicPr>
        <p:blipFill>
          <a:blip r:embed="rId7"/>
          <a:stretch>
            <a:fillRect/>
          </a:stretch>
        </p:blipFill>
        <p:spPr>
          <a:xfrm>
            <a:off x="7223760" y="2011680"/>
            <a:ext cx="256032" cy="256032"/>
          </a:xfrm>
          <a:prstGeom prst="rect">
            <a:avLst/>
          </a:prstGeom>
        </p:spPr>
      </p:pic>
      <p:sp>
        <p:nvSpPr>
          <p:cNvPr id="14" name="Text 7"/>
          <p:cNvSpPr/>
          <p:nvPr/>
        </p:nvSpPr>
        <p:spPr>
          <a:xfrm>
            <a:off x="7635240" y="1993392"/>
            <a:ext cx="3566160" cy="320040"/>
          </a:xfrm>
          <a:prstGeom prst="rect">
            <a:avLst/>
          </a:prstGeom>
          <a:noFill/>
          <a:ln/>
        </p:spPr>
        <p:txBody>
          <a:bodyPr wrap="square" lIns="0" tIns="0" rIns="0" bIns="0" rtlCol="0" anchor="ctr"/>
          <a:lstStyle/>
          <a:p>
            <a:pPr marL="0" indent="0">
              <a:buNone/>
            </a:pPr>
            <a:r>
              <a:rPr lang="en-US" sz="1300" dirty="0">
                <a:solidFill>
                  <a:srgbClr val="444444"/>
                </a:solidFill>
                <a:latin typeface="Calibri" pitchFamily="34" charset="0"/>
                <a:ea typeface="Calibri" pitchFamily="34" charset="-122"/>
                <a:cs typeface="Calibri" pitchFamily="34" charset="-120"/>
              </a:rPr>
              <a:t>Medicine delivery to remote communities</a:t>
            </a:r>
            <a:endParaRPr lang="en-US" sz="1300" dirty="0"/>
          </a:p>
        </p:txBody>
      </p:sp>
      <p:pic>
        <p:nvPicPr>
          <p:cNvPr id="15" name="Image 5" descr="preencoded.png"/>
          <p:cNvPicPr>
            <a:picLocks noChangeAspect="1"/>
          </p:cNvPicPr>
          <p:nvPr/>
        </p:nvPicPr>
        <p:blipFill>
          <a:blip r:embed="rId8"/>
          <a:stretch>
            <a:fillRect/>
          </a:stretch>
        </p:blipFill>
        <p:spPr>
          <a:xfrm>
            <a:off x="7223760" y="2450592"/>
            <a:ext cx="256032" cy="256032"/>
          </a:xfrm>
          <a:prstGeom prst="rect">
            <a:avLst/>
          </a:prstGeom>
        </p:spPr>
      </p:pic>
      <p:sp>
        <p:nvSpPr>
          <p:cNvPr id="16" name="Text 8"/>
          <p:cNvSpPr/>
          <p:nvPr/>
        </p:nvSpPr>
        <p:spPr>
          <a:xfrm>
            <a:off x="7635240" y="2432304"/>
            <a:ext cx="3566160" cy="320040"/>
          </a:xfrm>
          <a:prstGeom prst="rect">
            <a:avLst/>
          </a:prstGeom>
          <a:noFill/>
          <a:ln/>
        </p:spPr>
        <p:txBody>
          <a:bodyPr wrap="square" lIns="0" tIns="0" rIns="0" bIns="0" rtlCol="0" anchor="ctr"/>
          <a:lstStyle/>
          <a:p>
            <a:pPr marL="0" indent="0">
              <a:buNone/>
            </a:pPr>
            <a:r>
              <a:rPr lang="en-US" sz="1300" dirty="0">
                <a:solidFill>
                  <a:srgbClr val="444444"/>
                </a:solidFill>
                <a:latin typeface="Calibri" pitchFamily="34" charset="0"/>
                <a:ea typeface="Calibri" pitchFamily="34" charset="-122"/>
                <a:cs typeface="Calibri" pitchFamily="34" charset="-120"/>
              </a:rPr>
              <a:t>Blood and laboratory sample transport</a:t>
            </a:r>
            <a:endParaRPr lang="en-US" sz="1300" dirty="0"/>
          </a:p>
        </p:txBody>
      </p:sp>
      <p:pic>
        <p:nvPicPr>
          <p:cNvPr id="17" name="Image 6" descr="preencoded.png"/>
          <p:cNvPicPr>
            <a:picLocks noChangeAspect="1"/>
          </p:cNvPicPr>
          <p:nvPr/>
        </p:nvPicPr>
        <p:blipFill>
          <a:blip r:embed="rId9"/>
          <a:stretch>
            <a:fillRect/>
          </a:stretch>
        </p:blipFill>
        <p:spPr>
          <a:xfrm>
            <a:off x="7223760" y="2889504"/>
            <a:ext cx="256032" cy="256032"/>
          </a:xfrm>
          <a:prstGeom prst="rect">
            <a:avLst/>
          </a:prstGeom>
        </p:spPr>
      </p:pic>
      <p:sp>
        <p:nvSpPr>
          <p:cNvPr id="18" name="Text 9"/>
          <p:cNvSpPr/>
          <p:nvPr/>
        </p:nvSpPr>
        <p:spPr>
          <a:xfrm>
            <a:off x="7635240" y="2871216"/>
            <a:ext cx="3566160" cy="320040"/>
          </a:xfrm>
          <a:prstGeom prst="rect">
            <a:avLst/>
          </a:prstGeom>
          <a:noFill/>
          <a:ln/>
        </p:spPr>
        <p:txBody>
          <a:bodyPr wrap="square" lIns="0" tIns="0" rIns="0" bIns="0" rtlCol="0" anchor="ctr"/>
          <a:lstStyle/>
          <a:p>
            <a:pPr marL="0" indent="0">
              <a:buNone/>
            </a:pPr>
            <a:r>
              <a:rPr lang="en-US" sz="1300" dirty="0">
                <a:solidFill>
                  <a:srgbClr val="444444"/>
                </a:solidFill>
                <a:latin typeface="Calibri" pitchFamily="34" charset="0"/>
                <a:ea typeface="Calibri" pitchFamily="34" charset="-122"/>
                <a:cs typeface="Calibri" pitchFamily="34" charset="-120"/>
              </a:rPr>
              <a:t>Emergency medical supplies</a:t>
            </a:r>
            <a:endParaRPr lang="en-US" sz="1300" dirty="0"/>
          </a:p>
        </p:txBody>
      </p:sp>
      <p:pic>
        <p:nvPicPr>
          <p:cNvPr id="19" name="Image 7" descr="preencoded.png"/>
          <p:cNvPicPr>
            <a:picLocks noChangeAspect="1"/>
          </p:cNvPicPr>
          <p:nvPr/>
        </p:nvPicPr>
        <p:blipFill>
          <a:blip r:embed="rId10"/>
          <a:stretch>
            <a:fillRect/>
          </a:stretch>
        </p:blipFill>
        <p:spPr>
          <a:xfrm>
            <a:off x="7223760" y="3328416"/>
            <a:ext cx="256032" cy="256032"/>
          </a:xfrm>
          <a:prstGeom prst="rect">
            <a:avLst/>
          </a:prstGeom>
        </p:spPr>
      </p:pic>
      <p:sp>
        <p:nvSpPr>
          <p:cNvPr id="20" name="Text 10"/>
          <p:cNvSpPr/>
          <p:nvPr/>
        </p:nvSpPr>
        <p:spPr>
          <a:xfrm>
            <a:off x="7635240" y="3310128"/>
            <a:ext cx="3566160" cy="320040"/>
          </a:xfrm>
          <a:prstGeom prst="rect">
            <a:avLst/>
          </a:prstGeom>
          <a:noFill/>
          <a:ln/>
        </p:spPr>
        <p:txBody>
          <a:bodyPr wrap="square" lIns="0" tIns="0" rIns="0" bIns="0" rtlCol="0" anchor="ctr"/>
          <a:lstStyle/>
          <a:p>
            <a:pPr marL="0" indent="0">
              <a:buNone/>
            </a:pPr>
            <a:r>
              <a:rPr lang="en-US" sz="1300" dirty="0">
                <a:solidFill>
                  <a:srgbClr val="444444"/>
                </a:solidFill>
                <a:latin typeface="Calibri" pitchFamily="34" charset="0"/>
                <a:ea typeface="Calibri" pitchFamily="34" charset="-122"/>
                <a:cs typeface="Calibri" pitchFamily="34" charset="-120"/>
              </a:rPr>
              <a:t>Last-mile logistics</a:t>
            </a:r>
            <a:endParaRPr lang="en-US" sz="1300" dirty="0"/>
          </a:p>
        </p:txBody>
      </p:sp>
      <p:sp>
        <p:nvSpPr>
          <p:cNvPr id="21" name="Shape 11"/>
          <p:cNvSpPr/>
          <p:nvPr/>
        </p:nvSpPr>
        <p:spPr>
          <a:xfrm>
            <a:off x="602124" y="5186201"/>
            <a:ext cx="10698480" cy="914400"/>
          </a:xfrm>
          <a:prstGeom prst="roundRect">
            <a:avLst>
              <a:gd name="adj" fmla="val 10000"/>
            </a:avLst>
          </a:prstGeom>
          <a:solidFill>
            <a:srgbClr val="1A1A2E"/>
          </a:solidFill>
          <a:ln/>
        </p:spPr>
      </p:sp>
      <p:sp>
        <p:nvSpPr>
          <p:cNvPr id="22" name="Shape 12"/>
          <p:cNvSpPr/>
          <p:nvPr/>
        </p:nvSpPr>
        <p:spPr>
          <a:xfrm>
            <a:off x="876444" y="5350793"/>
            <a:ext cx="502920" cy="502920"/>
          </a:xfrm>
          <a:prstGeom prst="ellipse">
            <a:avLst/>
          </a:prstGeom>
          <a:solidFill>
            <a:srgbClr val="E60000"/>
          </a:solidFill>
          <a:ln/>
        </p:spPr>
      </p:sp>
      <p:pic>
        <p:nvPicPr>
          <p:cNvPr id="23" name="Image 8" descr="preencoded.png"/>
          <p:cNvPicPr>
            <a:picLocks noChangeAspect="1"/>
          </p:cNvPicPr>
          <p:nvPr/>
        </p:nvPicPr>
        <p:blipFill>
          <a:blip r:embed="rId11"/>
          <a:stretch>
            <a:fillRect/>
          </a:stretch>
        </p:blipFill>
        <p:spPr>
          <a:xfrm>
            <a:off x="926736" y="5401085"/>
            <a:ext cx="402336" cy="402336"/>
          </a:xfrm>
          <a:prstGeom prst="rect">
            <a:avLst/>
          </a:prstGeom>
        </p:spPr>
      </p:pic>
      <p:sp>
        <p:nvSpPr>
          <p:cNvPr id="24" name="Text 13"/>
          <p:cNvSpPr/>
          <p:nvPr/>
        </p:nvSpPr>
        <p:spPr>
          <a:xfrm>
            <a:off x="1562244" y="5259353"/>
            <a:ext cx="2743200" cy="320040"/>
          </a:xfrm>
          <a:prstGeom prst="rect">
            <a:avLst/>
          </a:prstGeom>
          <a:noFill/>
          <a:ln/>
        </p:spPr>
        <p:txBody>
          <a:bodyPr wrap="square" lIns="0" tIns="0" rIns="0" bIns="0" rtlCol="0" anchor="ctr"/>
          <a:lstStyle/>
          <a:p>
            <a:pPr marL="0" indent="0">
              <a:buNone/>
            </a:pPr>
            <a:r>
              <a:rPr lang="en-US" sz="1400" b="1" dirty="0">
                <a:solidFill>
                  <a:srgbClr val="E60000"/>
                </a:solidFill>
                <a:latin typeface="Calibri" pitchFamily="34" charset="0"/>
                <a:ea typeface="Calibri" pitchFamily="34" charset="-122"/>
                <a:cs typeface="Calibri" pitchFamily="34" charset="-120"/>
              </a:rPr>
              <a:t>Project Objective</a:t>
            </a:r>
            <a:endParaRPr lang="en-US" sz="1400" dirty="0"/>
          </a:p>
        </p:txBody>
      </p:sp>
      <p:sp>
        <p:nvSpPr>
          <p:cNvPr id="25" name="Text 14"/>
          <p:cNvSpPr/>
          <p:nvPr/>
        </p:nvSpPr>
        <p:spPr>
          <a:xfrm>
            <a:off x="1562244" y="5551961"/>
            <a:ext cx="9144000" cy="4114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Predict whether a delivery will arrive on time before dispatch, enabling proactive operational decisions.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5486400" cy="640080"/>
          </a:xfrm>
          <a:prstGeom prst="rect">
            <a:avLst/>
          </a:prstGeom>
          <a:noFill/>
          <a:ln/>
        </p:spPr>
        <p:txBody>
          <a:bodyPr wrap="square" lIns="0" tIns="0" rIns="0" bIns="0" rtlCol="0" anchor="ctr"/>
          <a:lstStyle/>
          <a:p>
            <a:pPr marL="0" indent="0">
              <a:buNone/>
            </a:pPr>
            <a:r>
              <a:rPr lang="en-US" sz="3600" b="1" dirty="0">
                <a:solidFill>
                  <a:srgbClr val="1A1A2E"/>
                </a:solidFill>
                <a:latin typeface="Calibri" pitchFamily="34" charset="0"/>
                <a:ea typeface="Calibri" pitchFamily="34" charset="-122"/>
                <a:cs typeface="Calibri" pitchFamily="34" charset="-120"/>
              </a:rPr>
              <a:t>Dataset Overview</a:t>
            </a:r>
            <a:endParaRPr lang="en-US" sz="3600" dirty="0"/>
          </a:p>
        </p:txBody>
      </p:sp>
      <p:sp>
        <p:nvSpPr>
          <p:cNvPr id="3" name="Shape 1"/>
          <p:cNvSpPr/>
          <p:nvPr/>
        </p:nvSpPr>
        <p:spPr>
          <a:xfrm>
            <a:off x="731520" y="1280160"/>
            <a:ext cx="2468880" cy="1371600"/>
          </a:xfrm>
          <a:prstGeom prst="roundRect">
            <a:avLst>
              <a:gd name="adj" fmla="val 6667"/>
            </a:avLst>
          </a:prstGeom>
          <a:solidFill>
            <a:srgbClr val="F5F5F5"/>
          </a:solidFill>
          <a:ln/>
          <a:effectLst>
            <a:outerShdw blurRad="50800" dist="25400" dir="8100000" algn="bl" rotWithShape="0">
              <a:srgbClr val="DDDDDD">
                <a:alpha val="30000"/>
              </a:srgbClr>
            </a:outerShdw>
          </a:effectLst>
        </p:spPr>
      </p:sp>
      <p:pic>
        <p:nvPicPr>
          <p:cNvPr id="4" name="Image 0" descr="preencoded.png"/>
          <p:cNvPicPr>
            <a:picLocks noChangeAspect="1"/>
          </p:cNvPicPr>
          <p:nvPr/>
        </p:nvPicPr>
        <p:blipFill>
          <a:blip r:embed="rId3"/>
          <a:stretch>
            <a:fillRect/>
          </a:stretch>
        </p:blipFill>
        <p:spPr>
          <a:xfrm>
            <a:off x="914400" y="1417320"/>
            <a:ext cx="292608" cy="292608"/>
          </a:xfrm>
          <a:prstGeom prst="rect">
            <a:avLst/>
          </a:prstGeom>
        </p:spPr>
      </p:pic>
      <p:sp>
        <p:nvSpPr>
          <p:cNvPr id="5" name="Text 2"/>
          <p:cNvSpPr/>
          <p:nvPr/>
        </p:nvSpPr>
        <p:spPr>
          <a:xfrm>
            <a:off x="731520" y="1783080"/>
            <a:ext cx="2468880" cy="502920"/>
          </a:xfrm>
          <a:prstGeom prst="rect">
            <a:avLst/>
          </a:prstGeom>
          <a:noFill/>
          <a:ln/>
        </p:spPr>
        <p:txBody>
          <a:bodyPr wrap="square" lIns="0" tIns="0" rIns="0" bIns="0" rtlCol="0" anchor="ctr"/>
          <a:lstStyle/>
          <a:p>
            <a:pPr marL="0" indent="0" algn="ctr">
              <a:buNone/>
            </a:pPr>
            <a:r>
              <a:rPr lang="en-US" sz="3000" b="1" dirty="0">
                <a:solidFill>
                  <a:srgbClr val="E60000"/>
                </a:solidFill>
                <a:latin typeface="Calibri" pitchFamily="34" charset="0"/>
                <a:ea typeface="Calibri" pitchFamily="34" charset="-122"/>
                <a:cs typeface="Calibri" pitchFamily="34" charset="-120"/>
              </a:rPr>
              <a:t>40,000</a:t>
            </a:r>
            <a:endParaRPr lang="en-US" sz="3000" dirty="0"/>
          </a:p>
        </p:txBody>
      </p:sp>
      <p:sp>
        <p:nvSpPr>
          <p:cNvPr id="6" name="Text 3"/>
          <p:cNvSpPr/>
          <p:nvPr/>
        </p:nvSpPr>
        <p:spPr>
          <a:xfrm>
            <a:off x="731520" y="2240280"/>
            <a:ext cx="2468880" cy="320040"/>
          </a:xfrm>
          <a:prstGeom prst="rect">
            <a:avLst/>
          </a:prstGeom>
          <a:noFill/>
          <a:ln/>
        </p:spPr>
        <p:txBody>
          <a:bodyPr wrap="square" lIns="0" tIns="0" rIns="0" bIns="0" rtlCol="0" anchor="ctr"/>
          <a:lstStyle/>
          <a:p>
            <a:pPr marL="0" indent="0" algn="ctr">
              <a:buNone/>
            </a:pPr>
            <a:r>
              <a:rPr lang="en-US" sz="1200" dirty="0">
                <a:solidFill>
                  <a:srgbClr val="444444"/>
                </a:solidFill>
                <a:latin typeface="Calibri" pitchFamily="34" charset="0"/>
                <a:ea typeface="Calibri" pitchFamily="34" charset="-122"/>
                <a:cs typeface="Calibri" pitchFamily="34" charset="-120"/>
              </a:rPr>
              <a:t>Training deliveries</a:t>
            </a:r>
            <a:endParaRPr lang="en-US" sz="1200" dirty="0"/>
          </a:p>
        </p:txBody>
      </p:sp>
      <p:sp>
        <p:nvSpPr>
          <p:cNvPr id="7" name="Shape 4"/>
          <p:cNvSpPr/>
          <p:nvPr/>
        </p:nvSpPr>
        <p:spPr>
          <a:xfrm>
            <a:off x="3429000" y="1280160"/>
            <a:ext cx="2468880" cy="1371600"/>
          </a:xfrm>
          <a:prstGeom prst="roundRect">
            <a:avLst>
              <a:gd name="adj" fmla="val 6667"/>
            </a:avLst>
          </a:prstGeom>
          <a:solidFill>
            <a:srgbClr val="F5F5F5"/>
          </a:solidFill>
          <a:ln/>
          <a:effectLst>
            <a:outerShdw blurRad="50800" dist="25400" dir="8100000" algn="bl" rotWithShape="0">
              <a:srgbClr val="DDDDDD">
                <a:alpha val="30000"/>
              </a:srgbClr>
            </a:outerShdw>
          </a:effectLst>
        </p:spPr>
      </p:sp>
      <p:pic>
        <p:nvPicPr>
          <p:cNvPr id="8" name="Image 1" descr="preencoded.png"/>
          <p:cNvPicPr>
            <a:picLocks noChangeAspect="1"/>
          </p:cNvPicPr>
          <p:nvPr/>
        </p:nvPicPr>
        <p:blipFill>
          <a:blip r:embed="rId4"/>
          <a:stretch>
            <a:fillRect/>
          </a:stretch>
        </p:blipFill>
        <p:spPr>
          <a:xfrm>
            <a:off x="3611880" y="1417320"/>
            <a:ext cx="292608" cy="292608"/>
          </a:xfrm>
          <a:prstGeom prst="rect">
            <a:avLst/>
          </a:prstGeom>
        </p:spPr>
      </p:pic>
      <p:sp>
        <p:nvSpPr>
          <p:cNvPr id="9" name="Text 5"/>
          <p:cNvSpPr/>
          <p:nvPr/>
        </p:nvSpPr>
        <p:spPr>
          <a:xfrm>
            <a:off x="3429000" y="1783080"/>
            <a:ext cx="2468880" cy="502920"/>
          </a:xfrm>
          <a:prstGeom prst="rect">
            <a:avLst/>
          </a:prstGeom>
          <a:noFill/>
          <a:ln/>
        </p:spPr>
        <p:txBody>
          <a:bodyPr wrap="square" lIns="0" tIns="0" rIns="0" bIns="0" rtlCol="0" anchor="ctr"/>
          <a:lstStyle/>
          <a:p>
            <a:pPr marL="0" indent="0" algn="ctr">
              <a:buNone/>
            </a:pPr>
            <a:r>
              <a:rPr lang="en-US" sz="3000" b="1" dirty="0">
                <a:solidFill>
                  <a:srgbClr val="E60000"/>
                </a:solidFill>
                <a:latin typeface="Calibri" pitchFamily="34" charset="0"/>
                <a:ea typeface="Calibri" pitchFamily="34" charset="-122"/>
                <a:cs typeface="Calibri" pitchFamily="34" charset="-120"/>
              </a:rPr>
              <a:t>10,000</a:t>
            </a:r>
            <a:endParaRPr lang="en-US" sz="3000" dirty="0"/>
          </a:p>
        </p:txBody>
      </p:sp>
      <p:sp>
        <p:nvSpPr>
          <p:cNvPr id="10" name="Text 6"/>
          <p:cNvSpPr/>
          <p:nvPr/>
        </p:nvSpPr>
        <p:spPr>
          <a:xfrm>
            <a:off x="3429000" y="2240280"/>
            <a:ext cx="2468880" cy="320040"/>
          </a:xfrm>
          <a:prstGeom prst="rect">
            <a:avLst/>
          </a:prstGeom>
          <a:noFill/>
          <a:ln/>
        </p:spPr>
        <p:txBody>
          <a:bodyPr wrap="square" lIns="0" tIns="0" rIns="0" bIns="0" rtlCol="0" anchor="ctr"/>
          <a:lstStyle/>
          <a:p>
            <a:pPr marL="0" indent="0" algn="ctr">
              <a:buNone/>
            </a:pPr>
            <a:r>
              <a:rPr lang="en-US" sz="1200" dirty="0">
                <a:solidFill>
                  <a:srgbClr val="444444"/>
                </a:solidFill>
                <a:latin typeface="Calibri" pitchFamily="34" charset="0"/>
                <a:ea typeface="Calibri" pitchFamily="34" charset="-122"/>
                <a:cs typeface="Calibri" pitchFamily="34" charset="-120"/>
              </a:rPr>
              <a:t>Test deliveries</a:t>
            </a:r>
            <a:endParaRPr lang="en-US" sz="1200" dirty="0"/>
          </a:p>
        </p:txBody>
      </p:sp>
      <p:sp>
        <p:nvSpPr>
          <p:cNvPr id="11" name="Shape 7"/>
          <p:cNvSpPr/>
          <p:nvPr/>
        </p:nvSpPr>
        <p:spPr>
          <a:xfrm>
            <a:off x="6126480" y="1280160"/>
            <a:ext cx="2468880" cy="1371600"/>
          </a:xfrm>
          <a:prstGeom prst="roundRect">
            <a:avLst>
              <a:gd name="adj" fmla="val 6667"/>
            </a:avLst>
          </a:prstGeom>
          <a:solidFill>
            <a:srgbClr val="F5F5F5"/>
          </a:solidFill>
          <a:ln/>
          <a:effectLst>
            <a:outerShdw blurRad="50800" dist="25400" dir="8100000" algn="bl" rotWithShape="0">
              <a:srgbClr val="DDDDDD">
                <a:alpha val="30000"/>
              </a:srgbClr>
            </a:outerShdw>
          </a:effectLst>
        </p:spPr>
      </p:sp>
      <p:pic>
        <p:nvPicPr>
          <p:cNvPr id="12" name="Image 2" descr="preencoded.png"/>
          <p:cNvPicPr>
            <a:picLocks noChangeAspect="1"/>
          </p:cNvPicPr>
          <p:nvPr/>
        </p:nvPicPr>
        <p:blipFill>
          <a:blip r:embed="rId5"/>
          <a:stretch>
            <a:fillRect/>
          </a:stretch>
        </p:blipFill>
        <p:spPr>
          <a:xfrm>
            <a:off x="6309360" y="1417320"/>
            <a:ext cx="292608" cy="292608"/>
          </a:xfrm>
          <a:prstGeom prst="rect">
            <a:avLst/>
          </a:prstGeom>
        </p:spPr>
      </p:pic>
      <p:sp>
        <p:nvSpPr>
          <p:cNvPr id="13" name="Text 8"/>
          <p:cNvSpPr/>
          <p:nvPr/>
        </p:nvSpPr>
        <p:spPr>
          <a:xfrm>
            <a:off x="6126480" y="1783080"/>
            <a:ext cx="2468880" cy="502920"/>
          </a:xfrm>
          <a:prstGeom prst="rect">
            <a:avLst/>
          </a:prstGeom>
          <a:noFill/>
          <a:ln/>
        </p:spPr>
        <p:txBody>
          <a:bodyPr wrap="square" lIns="0" tIns="0" rIns="0" bIns="0" rtlCol="0" anchor="ctr"/>
          <a:lstStyle/>
          <a:p>
            <a:pPr marL="0" indent="0" algn="ctr">
              <a:buNone/>
            </a:pPr>
            <a:r>
              <a:rPr lang="en-US" sz="3000" b="1" dirty="0">
                <a:solidFill>
                  <a:srgbClr val="E60000"/>
                </a:solidFill>
                <a:latin typeface="Calibri" pitchFamily="34" charset="0"/>
                <a:ea typeface="Calibri" pitchFamily="34" charset="-122"/>
                <a:cs typeface="Calibri" pitchFamily="34" charset="-120"/>
              </a:rPr>
              <a:t>9</a:t>
            </a:r>
            <a:endParaRPr lang="en-US" sz="3000" dirty="0"/>
          </a:p>
        </p:txBody>
      </p:sp>
      <p:sp>
        <p:nvSpPr>
          <p:cNvPr id="14" name="Text 9"/>
          <p:cNvSpPr/>
          <p:nvPr/>
        </p:nvSpPr>
        <p:spPr>
          <a:xfrm>
            <a:off x="6126480" y="2240280"/>
            <a:ext cx="2468880" cy="320040"/>
          </a:xfrm>
          <a:prstGeom prst="rect">
            <a:avLst/>
          </a:prstGeom>
          <a:noFill/>
          <a:ln/>
        </p:spPr>
        <p:txBody>
          <a:bodyPr wrap="square" lIns="0" tIns="0" rIns="0" bIns="0" rtlCol="0" anchor="ctr"/>
          <a:lstStyle/>
          <a:p>
            <a:pPr marL="0" indent="0" algn="ctr">
              <a:buNone/>
            </a:pPr>
            <a:r>
              <a:rPr lang="en-US" sz="1200" dirty="0">
                <a:solidFill>
                  <a:srgbClr val="444444"/>
                </a:solidFill>
                <a:latin typeface="Calibri" pitchFamily="34" charset="0"/>
                <a:ea typeface="Calibri" pitchFamily="34" charset="-122"/>
                <a:cs typeface="Calibri" pitchFamily="34" charset="-120"/>
              </a:rPr>
              <a:t>Features</a:t>
            </a:r>
            <a:endParaRPr lang="en-US" sz="1200" dirty="0"/>
          </a:p>
        </p:txBody>
      </p:sp>
      <p:sp>
        <p:nvSpPr>
          <p:cNvPr id="15" name="Shape 10"/>
          <p:cNvSpPr/>
          <p:nvPr/>
        </p:nvSpPr>
        <p:spPr>
          <a:xfrm>
            <a:off x="8823960" y="1280160"/>
            <a:ext cx="2468880" cy="1371600"/>
          </a:xfrm>
          <a:prstGeom prst="roundRect">
            <a:avLst>
              <a:gd name="adj" fmla="val 6667"/>
            </a:avLst>
          </a:prstGeom>
          <a:solidFill>
            <a:srgbClr val="F5F5F5"/>
          </a:solidFill>
          <a:ln/>
          <a:effectLst>
            <a:outerShdw blurRad="50800" dist="25400" dir="8100000" algn="bl" rotWithShape="0">
              <a:srgbClr val="DDDDDD">
                <a:alpha val="30000"/>
              </a:srgbClr>
            </a:outerShdw>
          </a:effectLst>
        </p:spPr>
      </p:sp>
      <p:pic>
        <p:nvPicPr>
          <p:cNvPr id="16" name="Image 3" descr="preencoded.png"/>
          <p:cNvPicPr>
            <a:picLocks noChangeAspect="1"/>
          </p:cNvPicPr>
          <p:nvPr/>
        </p:nvPicPr>
        <p:blipFill>
          <a:blip r:embed="rId6"/>
          <a:stretch>
            <a:fillRect/>
          </a:stretch>
        </p:blipFill>
        <p:spPr>
          <a:xfrm>
            <a:off x="9006840" y="1417320"/>
            <a:ext cx="292608" cy="292608"/>
          </a:xfrm>
          <a:prstGeom prst="rect">
            <a:avLst/>
          </a:prstGeom>
        </p:spPr>
      </p:pic>
      <p:sp>
        <p:nvSpPr>
          <p:cNvPr id="17" name="Text 11"/>
          <p:cNvSpPr/>
          <p:nvPr/>
        </p:nvSpPr>
        <p:spPr>
          <a:xfrm>
            <a:off x="8823960" y="1783080"/>
            <a:ext cx="2468880" cy="502920"/>
          </a:xfrm>
          <a:prstGeom prst="rect">
            <a:avLst/>
          </a:prstGeom>
          <a:noFill/>
          <a:ln/>
        </p:spPr>
        <p:txBody>
          <a:bodyPr wrap="square" lIns="0" tIns="0" rIns="0" bIns="0" rtlCol="0" anchor="ctr"/>
          <a:lstStyle/>
          <a:p>
            <a:pPr marL="0" indent="0" algn="ctr">
              <a:buNone/>
            </a:pPr>
            <a:r>
              <a:rPr lang="en-US" sz="3000" b="1" dirty="0">
                <a:solidFill>
                  <a:srgbClr val="E60000"/>
                </a:solidFill>
                <a:latin typeface="Calibri" pitchFamily="34" charset="0"/>
                <a:ea typeface="Calibri" pitchFamily="34" charset="-122"/>
                <a:cs typeface="Calibri" pitchFamily="34" charset="-120"/>
              </a:rPr>
              <a:t>60 / 40</a:t>
            </a:r>
            <a:endParaRPr lang="en-US" sz="3000" dirty="0"/>
          </a:p>
        </p:txBody>
      </p:sp>
      <p:sp>
        <p:nvSpPr>
          <p:cNvPr id="18" name="Text 12"/>
          <p:cNvSpPr/>
          <p:nvPr/>
        </p:nvSpPr>
        <p:spPr>
          <a:xfrm>
            <a:off x="8823960" y="2240280"/>
            <a:ext cx="2468880" cy="320040"/>
          </a:xfrm>
          <a:prstGeom prst="rect">
            <a:avLst/>
          </a:prstGeom>
          <a:noFill/>
          <a:ln/>
        </p:spPr>
        <p:txBody>
          <a:bodyPr wrap="square" lIns="0" tIns="0" rIns="0" bIns="0" rtlCol="0" anchor="ctr"/>
          <a:lstStyle/>
          <a:p>
            <a:pPr marL="0" indent="0" algn="ctr">
              <a:buNone/>
            </a:pPr>
            <a:r>
              <a:rPr lang="en-US" sz="1200" dirty="0">
                <a:solidFill>
                  <a:srgbClr val="444444"/>
                </a:solidFill>
                <a:latin typeface="Calibri" pitchFamily="34" charset="0"/>
                <a:ea typeface="Calibri" pitchFamily="34" charset="-122"/>
                <a:cs typeface="Calibri" pitchFamily="34" charset="-120"/>
              </a:rPr>
              <a:t>On-time / Late split</a:t>
            </a:r>
            <a:endParaRPr lang="en-US" sz="1200" dirty="0"/>
          </a:p>
        </p:txBody>
      </p:sp>
      <p:pic>
        <p:nvPicPr>
          <p:cNvPr id="19" name="Image 4" descr="preencoded.png"/>
          <p:cNvPicPr>
            <a:picLocks noChangeAspect="1"/>
          </p:cNvPicPr>
          <p:nvPr/>
        </p:nvPicPr>
        <p:blipFill>
          <a:blip r:embed="rId7"/>
          <a:stretch>
            <a:fillRect/>
          </a:stretch>
        </p:blipFill>
        <p:spPr>
          <a:xfrm>
            <a:off x="731520" y="3108960"/>
            <a:ext cx="4114800" cy="3017520"/>
          </a:xfrm>
          <a:prstGeom prst="rect">
            <a:avLst/>
          </a:prstGeom>
        </p:spPr>
      </p:pic>
      <p:sp>
        <p:nvSpPr>
          <p:cNvPr id="20" name="Text 13"/>
          <p:cNvSpPr/>
          <p:nvPr/>
        </p:nvSpPr>
        <p:spPr>
          <a:xfrm>
            <a:off x="5486400" y="3200400"/>
            <a:ext cx="3657600" cy="365760"/>
          </a:xfrm>
          <a:prstGeom prst="rect">
            <a:avLst/>
          </a:prstGeom>
          <a:noFill/>
          <a:ln/>
        </p:spPr>
        <p:txBody>
          <a:bodyPr wrap="square" lIns="0" tIns="0" rIns="0" bIns="0"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Key Observations</a:t>
            </a:r>
            <a:endParaRPr lang="en-US" sz="1600" dirty="0"/>
          </a:p>
        </p:txBody>
      </p:sp>
      <p:sp>
        <p:nvSpPr>
          <p:cNvPr id="21" name="Shape 14"/>
          <p:cNvSpPr/>
          <p:nvPr/>
        </p:nvSpPr>
        <p:spPr>
          <a:xfrm>
            <a:off x="5486400" y="3703320"/>
            <a:ext cx="256032" cy="256032"/>
          </a:xfrm>
          <a:prstGeom prst="ellipse">
            <a:avLst/>
          </a:prstGeom>
          <a:solidFill>
            <a:srgbClr val="F5F5F5"/>
          </a:solidFill>
          <a:ln/>
        </p:spPr>
      </p:sp>
      <p:pic>
        <p:nvPicPr>
          <p:cNvPr id="22" name="Image 5" descr="preencoded.png"/>
          <p:cNvPicPr>
            <a:picLocks noChangeAspect="1"/>
          </p:cNvPicPr>
          <p:nvPr/>
        </p:nvPicPr>
        <p:blipFill>
          <a:blip r:embed="rId8"/>
          <a:stretch>
            <a:fillRect/>
          </a:stretch>
        </p:blipFill>
        <p:spPr>
          <a:xfrm>
            <a:off x="5512003" y="3728923"/>
            <a:ext cx="204826" cy="204826"/>
          </a:xfrm>
          <a:prstGeom prst="rect">
            <a:avLst/>
          </a:prstGeom>
        </p:spPr>
      </p:pic>
      <p:sp>
        <p:nvSpPr>
          <p:cNvPr id="23" name="Text 15"/>
          <p:cNvSpPr/>
          <p:nvPr/>
        </p:nvSpPr>
        <p:spPr>
          <a:xfrm>
            <a:off x="5852160" y="3685032"/>
            <a:ext cx="5669280" cy="320040"/>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Mild class imbalance (≈60% on-time, 40% late), requiring no resampling</a:t>
            </a:r>
            <a:endParaRPr lang="en-US" sz="1250" dirty="0"/>
          </a:p>
        </p:txBody>
      </p:sp>
      <p:sp>
        <p:nvSpPr>
          <p:cNvPr id="24" name="Shape 16"/>
          <p:cNvSpPr/>
          <p:nvPr/>
        </p:nvSpPr>
        <p:spPr>
          <a:xfrm>
            <a:off x="5486400" y="4160520"/>
            <a:ext cx="256032" cy="256032"/>
          </a:xfrm>
          <a:prstGeom prst="ellipse">
            <a:avLst/>
          </a:prstGeom>
          <a:solidFill>
            <a:srgbClr val="F5F5F5"/>
          </a:solidFill>
          <a:ln/>
        </p:spPr>
      </p:sp>
      <p:pic>
        <p:nvPicPr>
          <p:cNvPr id="25" name="Image 6" descr="preencoded.png"/>
          <p:cNvPicPr>
            <a:picLocks noChangeAspect="1"/>
          </p:cNvPicPr>
          <p:nvPr/>
        </p:nvPicPr>
        <p:blipFill>
          <a:blip r:embed="rId8"/>
          <a:stretch>
            <a:fillRect/>
          </a:stretch>
        </p:blipFill>
        <p:spPr>
          <a:xfrm>
            <a:off x="5512003" y="4186123"/>
            <a:ext cx="204826" cy="204826"/>
          </a:xfrm>
          <a:prstGeom prst="rect">
            <a:avLst/>
          </a:prstGeom>
        </p:spPr>
      </p:pic>
      <p:sp>
        <p:nvSpPr>
          <p:cNvPr id="26" name="Text 17"/>
          <p:cNvSpPr/>
          <p:nvPr/>
        </p:nvSpPr>
        <p:spPr>
          <a:xfrm>
            <a:off x="5852160" y="4142232"/>
            <a:ext cx="5669280" cy="320040"/>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Clean dataset with no missing values or duplicates</a:t>
            </a:r>
            <a:endParaRPr lang="en-US" sz="1250" dirty="0"/>
          </a:p>
        </p:txBody>
      </p:sp>
      <p:sp>
        <p:nvSpPr>
          <p:cNvPr id="27" name="Shape 18"/>
          <p:cNvSpPr/>
          <p:nvPr/>
        </p:nvSpPr>
        <p:spPr>
          <a:xfrm>
            <a:off x="5486400" y="4617720"/>
            <a:ext cx="256032" cy="256032"/>
          </a:xfrm>
          <a:prstGeom prst="ellipse">
            <a:avLst/>
          </a:prstGeom>
          <a:solidFill>
            <a:srgbClr val="F5F5F5"/>
          </a:solidFill>
          <a:ln/>
        </p:spPr>
      </p:sp>
      <p:pic>
        <p:nvPicPr>
          <p:cNvPr id="28" name="Image 7" descr="preencoded.png"/>
          <p:cNvPicPr>
            <a:picLocks noChangeAspect="1"/>
          </p:cNvPicPr>
          <p:nvPr/>
        </p:nvPicPr>
        <p:blipFill>
          <a:blip r:embed="rId8"/>
          <a:stretch>
            <a:fillRect/>
          </a:stretch>
        </p:blipFill>
        <p:spPr>
          <a:xfrm>
            <a:off x="5512003" y="4643323"/>
            <a:ext cx="204826" cy="204826"/>
          </a:xfrm>
          <a:prstGeom prst="rect">
            <a:avLst/>
          </a:prstGeom>
        </p:spPr>
      </p:pic>
      <p:sp>
        <p:nvSpPr>
          <p:cNvPr id="29" name="Text 19"/>
          <p:cNvSpPr/>
          <p:nvPr/>
        </p:nvSpPr>
        <p:spPr>
          <a:xfrm>
            <a:off x="5852160" y="4599432"/>
            <a:ext cx="5669280" cy="320040"/>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Mix of numerical, categorical, and string-encoded features</a:t>
            </a:r>
            <a:endParaRPr lang="en-US" sz="1250" dirty="0"/>
          </a:p>
        </p:txBody>
      </p:sp>
      <p:sp>
        <p:nvSpPr>
          <p:cNvPr id="30" name="Shape 20"/>
          <p:cNvSpPr/>
          <p:nvPr/>
        </p:nvSpPr>
        <p:spPr>
          <a:xfrm>
            <a:off x="5486400" y="5074920"/>
            <a:ext cx="256032" cy="256032"/>
          </a:xfrm>
          <a:prstGeom prst="ellipse">
            <a:avLst/>
          </a:prstGeom>
          <a:solidFill>
            <a:srgbClr val="F5F5F5"/>
          </a:solidFill>
          <a:ln/>
        </p:spPr>
      </p:sp>
      <p:pic>
        <p:nvPicPr>
          <p:cNvPr id="31" name="Image 8" descr="preencoded.png"/>
          <p:cNvPicPr>
            <a:picLocks noChangeAspect="1"/>
          </p:cNvPicPr>
          <p:nvPr/>
        </p:nvPicPr>
        <p:blipFill>
          <a:blip r:embed="rId8"/>
          <a:stretch>
            <a:fillRect/>
          </a:stretch>
        </p:blipFill>
        <p:spPr>
          <a:xfrm>
            <a:off x="5512003" y="5100523"/>
            <a:ext cx="204826" cy="204826"/>
          </a:xfrm>
          <a:prstGeom prst="rect">
            <a:avLst/>
          </a:prstGeom>
        </p:spPr>
      </p:pic>
      <p:sp>
        <p:nvSpPr>
          <p:cNvPr id="32" name="Text 21"/>
          <p:cNvSpPr/>
          <p:nvPr/>
        </p:nvSpPr>
        <p:spPr>
          <a:xfrm>
            <a:off x="5852160" y="5056632"/>
            <a:ext cx="5669280" cy="320040"/>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Suitable for supervised binary classification</a:t>
            </a:r>
            <a:endParaRPr lang="en-US" sz="1250" dirty="0"/>
          </a:p>
        </p:txBody>
      </p:sp>
      <p:sp>
        <p:nvSpPr>
          <p:cNvPr id="33" name="Shape 22"/>
          <p:cNvSpPr/>
          <p:nvPr/>
        </p:nvSpPr>
        <p:spPr>
          <a:xfrm>
            <a:off x="5486400" y="5532120"/>
            <a:ext cx="256032" cy="256032"/>
          </a:xfrm>
          <a:prstGeom prst="ellipse">
            <a:avLst/>
          </a:prstGeom>
          <a:solidFill>
            <a:srgbClr val="F5F5F5"/>
          </a:solidFill>
          <a:ln/>
        </p:spPr>
      </p:sp>
      <p:pic>
        <p:nvPicPr>
          <p:cNvPr id="34" name="Image 9" descr="preencoded.png"/>
          <p:cNvPicPr>
            <a:picLocks noChangeAspect="1"/>
          </p:cNvPicPr>
          <p:nvPr/>
        </p:nvPicPr>
        <p:blipFill>
          <a:blip r:embed="rId8"/>
          <a:stretch>
            <a:fillRect/>
          </a:stretch>
        </p:blipFill>
        <p:spPr>
          <a:xfrm>
            <a:off x="5512003" y="5557723"/>
            <a:ext cx="204826" cy="204826"/>
          </a:xfrm>
          <a:prstGeom prst="rect">
            <a:avLst/>
          </a:prstGeom>
        </p:spPr>
      </p:pic>
      <p:sp>
        <p:nvSpPr>
          <p:cNvPr id="35" name="Text 23"/>
          <p:cNvSpPr/>
          <p:nvPr/>
        </p:nvSpPr>
        <p:spPr>
          <a:xfrm>
            <a:off x="5852160" y="5513832"/>
            <a:ext cx="5669280" cy="320040"/>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Mix of feature types makes this representative of real operational planning problems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1A1A2E"/>
                </a:solidFill>
                <a:latin typeface="Calibri" pitchFamily="34" charset="0"/>
                <a:ea typeface="Calibri" pitchFamily="34" charset="-122"/>
                <a:cs typeface="Calibri" pitchFamily="34" charset="-120"/>
              </a:rPr>
              <a:t>EDA — Numerical Features</a:t>
            </a:r>
            <a:endParaRPr lang="en-US" sz="3600" dirty="0"/>
          </a:p>
        </p:txBody>
      </p:sp>
      <p:sp>
        <p:nvSpPr>
          <p:cNvPr id="3" name="Text 1"/>
          <p:cNvSpPr/>
          <p:nvPr/>
        </p:nvSpPr>
        <p:spPr>
          <a:xfrm>
            <a:off x="731520" y="960120"/>
            <a:ext cx="9144000" cy="320040"/>
          </a:xfrm>
          <a:prstGeom prst="rect">
            <a:avLst/>
          </a:prstGeom>
          <a:noFill/>
          <a:ln/>
        </p:spPr>
        <p:txBody>
          <a:bodyPr wrap="square" lIns="0" tIns="0" rIns="0" bIns="0" rtlCol="0" anchor="ctr"/>
          <a:lstStyle/>
          <a:p>
            <a:pPr marL="0" indent="0">
              <a:buNone/>
            </a:pPr>
            <a:r>
              <a:rPr lang="en-US" sz="1300" i="1" dirty="0">
                <a:solidFill>
                  <a:srgbClr val="444444"/>
                </a:solidFill>
                <a:latin typeface="Calibri" pitchFamily="34" charset="0"/>
                <a:ea typeface="Calibri" pitchFamily="34" charset="-122"/>
                <a:cs typeface="Calibri" pitchFamily="34" charset="-120"/>
              </a:rPr>
              <a:t>Distribution and relationship with on-time delivery for the two original numerical predictors</a:t>
            </a:r>
            <a:endParaRPr lang="en-US" sz="1300" dirty="0"/>
          </a:p>
        </p:txBody>
      </p:sp>
      <p:pic>
        <p:nvPicPr>
          <p:cNvPr id="4" name="Image 0" descr="preencoded.png"/>
          <p:cNvPicPr>
            <a:picLocks noChangeAspect="1"/>
          </p:cNvPicPr>
          <p:nvPr/>
        </p:nvPicPr>
        <p:blipFill>
          <a:blip r:embed="rId3"/>
          <a:stretch>
            <a:fillRect/>
          </a:stretch>
        </p:blipFill>
        <p:spPr>
          <a:xfrm>
            <a:off x="274320" y="1463040"/>
            <a:ext cx="5669280" cy="2377440"/>
          </a:xfrm>
          <a:prstGeom prst="rect">
            <a:avLst/>
          </a:prstGeom>
        </p:spPr>
      </p:pic>
      <p:pic>
        <p:nvPicPr>
          <p:cNvPr id="5" name="Image 1" descr="preencoded.png"/>
          <p:cNvPicPr>
            <a:picLocks noChangeAspect="1"/>
          </p:cNvPicPr>
          <p:nvPr/>
        </p:nvPicPr>
        <p:blipFill>
          <a:blip r:embed="rId4"/>
          <a:stretch>
            <a:fillRect/>
          </a:stretch>
        </p:blipFill>
        <p:spPr>
          <a:xfrm>
            <a:off x="274320" y="3931920"/>
            <a:ext cx="5669280" cy="2377440"/>
          </a:xfrm>
          <a:prstGeom prst="rect">
            <a:avLst/>
          </a:prstGeom>
        </p:spPr>
      </p:pic>
      <p:pic>
        <p:nvPicPr>
          <p:cNvPr id="6" name="Image 2" descr="preencoded.png"/>
          <p:cNvPicPr>
            <a:picLocks noChangeAspect="1"/>
          </p:cNvPicPr>
          <p:nvPr/>
        </p:nvPicPr>
        <p:blipFill>
          <a:blip r:embed="rId5"/>
          <a:stretch>
            <a:fillRect/>
          </a:stretch>
        </p:blipFill>
        <p:spPr>
          <a:xfrm>
            <a:off x="6217920" y="1371600"/>
            <a:ext cx="5303520" cy="3931920"/>
          </a:xfrm>
          <a:prstGeom prst="rect">
            <a:avLst/>
          </a:prstGeom>
        </p:spPr>
      </p:pic>
      <p:sp>
        <p:nvSpPr>
          <p:cNvPr id="7" name="Text 2"/>
          <p:cNvSpPr/>
          <p:nvPr/>
        </p:nvSpPr>
        <p:spPr>
          <a:xfrm>
            <a:off x="6400800" y="5394960"/>
            <a:ext cx="3657600" cy="320040"/>
          </a:xfrm>
          <a:prstGeom prst="rect">
            <a:avLst/>
          </a:prstGeom>
          <a:noFill/>
          <a:ln/>
        </p:spPr>
        <p:txBody>
          <a:bodyPr wrap="square" lIns="0" tIns="0" rIns="0" bIns="0" rtlCol="0" anchor="ctr"/>
          <a:lstStyle/>
          <a:p>
            <a:pPr marL="0" indent="0">
              <a:buNone/>
            </a:pPr>
            <a:r>
              <a:rPr lang="en-US" sz="1500" b="1" dirty="0">
                <a:solidFill>
                  <a:srgbClr val="E60000"/>
                </a:solidFill>
                <a:latin typeface="Calibri" pitchFamily="34" charset="0"/>
                <a:ea typeface="Calibri" pitchFamily="34" charset="-122"/>
                <a:cs typeface="Calibri" pitchFamily="34" charset="-120"/>
              </a:rPr>
              <a:t>Key Findings</a:t>
            </a:r>
            <a:endParaRPr lang="en-US" sz="1500" dirty="0"/>
          </a:p>
        </p:txBody>
      </p:sp>
      <p:sp>
        <p:nvSpPr>
          <p:cNvPr id="8" name="Text 3"/>
          <p:cNvSpPr/>
          <p:nvPr/>
        </p:nvSpPr>
        <p:spPr>
          <a:xfrm>
            <a:off x="6400800" y="5760720"/>
            <a:ext cx="5303520" cy="27432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  Longer distances clearly reduce on-time probability</a:t>
            </a:r>
            <a:endParaRPr lang="en-US" sz="1100" dirty="0"/>
          </a:p>
        </p:txBody>
      </p:sp>
      <p:sp>
        <p:nvSpPr>
          <p:cNvPr id="9" name="Text 4"/>
          <p:cNvSpPr/>
          <p:nvPr/>
        </p:nvSpPr>
        <p:spPr>
          <a:xfrm>
            <a:off x="6400800" y="6071616"/>
            <a:ext cx="5303520" cy="27432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  Heavier payloads make deliveries harder to complete on time</a:t>
            </a:r>
            <a:endParaRPr lang="en-US" sz="1100" dirty="0"/>
          </a:p>
        </p:txBody>
      </p:sp>
      <p:sp>
        <p:nvSpPr>
          <p:cNvPr id="10" name="Text 5"/>
          <p:cNvSpPr/>
          <p:nvPr/>
        </p:nvSpPr>
        <p:spPr>
          <a:xfrm>
            <a:off x="6400800" y="6382512"/>
            <a:ext cx="5303520" cy="27432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  wind_avg and wind_gust are correlated (~0.84) but represent different aspects (steady wind vs. gust intensity), so both were retained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1A1A2E"/>
                </a:solidFill>
                <a:latin typeface="Calibri" pitchFamily="34" charset="0"/>
                <a:ea typeface="Calibri" pitchFamily="34" charset="-122"/>
                <a:cs typeface="Calibri" pitchFamily="34" charset="-120"/>
              </a:rPr>
              <a:t>EDA — Categorical Features</a:t>
            </a:r>
            <a:endParaRPr lang="en-US" sz="3600" dirty="0"/>
          </a:p>
        </p:txBody>
      </p:sp>
      <p:sp>
        <p:nvSpPr>
          <p:cNvPr id="3" name="Text 1"/>
          <p:cNvSpPr/>
          <p:nvPr/>
        </p:nvSpPr>
        <p:spPr>
          <a:xfrm>
            <a:off x="731520" y="960120"/>
            <a:ext cx="9144000" cy="320040"/>
          </a:xfrm>
          <a:prstGeom prst="rect">
            <a:avLst/>
          </a:prstGeom>
          <a:noFill/>
          <a:ln/>
        </p:spPr>
        <p:txBody>
          <a:bodyPr wrap="square" lIns="0" tIns="0" rIns="0" bIns="0" rtlCol="0" anchor="ctr"/>
          <a:lstStyle/>
          <a:p>
            <a:pPr marL="0" indent="0">
              <a:buNone/>
            </a:pPr>
            <a:r>
              <a:rPr lang="en-US" sz="1300" i="1" dirty="0">
                <a:solidFill>
                  <a:srgbClr val="444444"/>
                </a:solidFill>
                <a:latin typeface="Calibri" pitchFamily="34" charset="0"/>
                <a:ea typeface="Calibri" pitchFamily="34" charset="-122"/>
                <a:cs typeface="Calibri" pitchFamily="34" charset="-120"/>
              </a:rPr>
              <a:t>Frequency and average on-time rate per category for the two key categorical variables</a:t>
            </a:r>
            <a:endParaRPr lang="en-US" sz="1300" dirty="0"/>
          </a:p>
        </p:txBody>
      </p:sp>
      <p:pic>
        <p:nvPicPr>
          <p:cNvPr id="4" name="Image 0" descr="preencoded.png"/>
          <p:cNvPicPr>
            <a:picLocks noChangeAspect="1"/>
          </p:cNvPicPr>
          <p:nvPr/>
        </p:nvPicPr>
        <p:blipFill>
          <a:blip r:embed="rId3"/>
          <a:stretch>
            <a:fillRect/>
          </a:stretch>
        </p:blipFill>
        <p:spPr>
          <a:xfrm>
            <a:off x="274320" y="1463040"/>
            <a:ext cx="5669280" cy="2377440"/>
          </a:xfrm>
          <a:prstGeom prst="rect">
            <a:avLst/>
          </a:prstGeom>
        </p:spPr>
      </p:pic>
      <p:pic>
        <p:nvPicPr>
          <p:cNvPr id="5" name="Image 1" descr="preencoded.png"/>
          <p:cNvPicPr>
            <a:picLocks noChangeAspect="1"/>
          </p:cNvPicPr>
          <p:nvPr/>
        </p:nvPicPr>
        <p:blipFill>
          <a:blip r:embed="rId4"/>
          <a:stretch>
            <a:fillRect/>
          </a:stretch>
        </p:blipFill>
        <p:spPr>
          <a:xfrm>
            <a:off x="274320" y="3931920"/>
            <a:ext cx="5669280" cy="2377440"/>
          </a:xfrm>
          <a:prstGeom prst="rect">
            <a:avLst/>
          </a:prstGeom>
        </p:spPr>
      </p:pic>
      <p:sp>
        <p:nvSpPr>
          <p:cNvPr id="6" name="Text 2"/>
          <p:cNvSpPr/>
          <p:nvPr/>
        </p:nvSpPr>
        <p:spPr>
          <a:xfrm>
            <a:off x="6400800" y="1645920"/>
            <a:ext cx="4572000" cy="320040"/>
          </a:xfrm>
          <a:prstGeom prst="rect">
            <a:avLst/>
          </a:prstGeom>
          <a:noFill/>
          <a:ln/>
        </p:spPr>
        <p:txBody>
          <a:bodyPr wrap="square" lIns="0" tIns="0" rIns="0" bIns="0" rtlCol="0" anchor="ctr"/>
          <a:lstStyle/>
          <a:p>
            <a:pPr marL="0" indent="0">
              <a:buNone/>
            </a:pPr>
            <a:r>
              <a:rPr lang="en-US" sz="1600" b="1" dirty="0">
                <a:solidFill>
                  <a:srgbClr val="E60000"/>
                </a:solidFill>
                <a:latin typeface="Calibri" pitchFamily="34" charset="0"/>
                <a:ea typeface="Calibri" pitchFamily="34" charset="-122"/>
                <a:cs typeface="Calibri" pitchFamily="34" charset="-120"/>
              </a:rPr>
              <a:t>Drone Model</a:t>
            </a:r>
            <a:endParaRPr lang="en-US" sz="1600" dirty="0"/>
          </a:p>
        </p:txBody>
      </p:sp>
      <p:sp>
        <p:nvSpPr>
          <p:cNvPr id="7" name="Text 3"/>
          <p:cNvSpPr/>
          <p:nvPr/>
        </p:nvSpPr>
        <p:spPr>
          <a:xfrm>
            <a:off x="6400800" y="2057400"/>
            <a:ext cx="5029200" cy="640080"/>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Three drone models (A, B, C) with roughly equal frequency. Model B shows the highest on-time rate, and this difference persists in the final model's coefficients.</a:t>
            </a:r>
            <a:endParaRPr lang="en-US" sz="1250" dirty="0"/>
          </a:p>
        </p:txBody>
      </p:sp>
      <p:sp>
        <p:nvSpPr>
          <p:cNvPr id="8" name="Text 4"/>
          <p:cNvSpPr/>
          <p:nvPr/>
        </p:nvSpPr>
        <p:spPr>
          <a:xfrm>
            <a:off x="6400800" y="3108960"/>
            <a:ext cx="4572000" cy="320040"/>
          </a:xfrm>
          <a:prstGeom prst="rect">
            <a:avLst/>
          </a:prstGeom>
          <a:noFill/>
          <a:ln/>
        </p:spPr>
        <p:txBody>
          <a:bodyPr wrap="square" lIns="0" tIns="0" rIns="0" bIns="0" rtlCol="0" anchor="ctr"/>
          <a:lstStyle/>
          <a:p>
            <a:pPr marL="0" indent="0">
              <a:buNone/>
            </a:pPr>
            <a:r>
              <a:rPr lang="en-US" sz="1600" b="1" dirty="0">
                <a:solidFill>
                  <a:srgbClr val="E60000"/>
                </a:solidFill>
                <a:latin typeface="Calibri" pitchFamily="34" charset="0"/>
                <a:ea typeface="Calibri" pitchFamily="34" charset="-122"/>
                <a:cs typeface="Calibri" pitchFamily="34" charset="-120"/>
              </a:rPr>
              <a:t>Operator Strategy</a:t>
            </a:r>
            <a:endParaRPr lang="en-US" sz="1600" dirty="0"/>
          </a:p>
        </p:txBody>
      </p:sp>
      <p:sp>
        <p:nvSpPr>
          <p:cNvPr id="9" name="Text 5"/>
          <p:cNvSpPr/>
          <p:nvPr/>
        </p:nvSpPr>
        <p:spPr>
          <a:xfrm>
            <a:off x="6400800" y="3520440"/>
            <a:ext cx="5029200" cy="548640"/>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Three operator tags: aggressive, balanced, safe. Aggressive operators show the highest on-time rate (68%) and safe the lowest (53%).</a:t>
            </a:r>
            <a:endParaRPr lang="en-US" sz="1250" dirty="0"/>
          </a:p>
        </p:txBody>
      </p:sp>
      <p:sp>
        <p:nvSpPr>
          <p:cNvPr id="10" name="Shape 6"/>
          <p:cNvSpPr/>
          <p:nvPr/>
        </p:nvSpPr>
        <p:spPr>
          <a:xfrm>
            <a:off x="6400800" y="4389120"/>
            <a:ext cx="5029200" cy="1371600"/>
          </a:xfrm>
          <a:prstGeom prst="roundRect">
            <a:avLst>
              <a:gd name="adj" fmla="val 6667"/>
            </a:avLst>
          </a:prstGeom>
          <a:solidFill>
            <a:srgbClr val="F5F5F5"/>
          </a:solidFill>
          <a:ln/>
        </p:spPr>
      </p:sp>
      <p:sp>
        <p:nvSpPr>
          <p:cNvPr id="11" name="Shape 7"/>
          <p:cNvSpPr/>
          <p:nvPr/>
        </p:nvSpPr>
        <p:spPr>
          <a:xfrm>
            <a:off x="6583680" y="4526280"/>
            <a:ext cx="320040" cy="320040"/>
          </a:xfrm>
          <a:prstGeom prst="ellipse">
            <a:avLst/>
          </a:prstGeom>
          <a:solidFill>
            <a:srgbClr val="F5F5F5"/>
          </a:solidFill>
          <a:ln/>
        </p:spPr>
      </p:sp>
      <p:pic>
        <p:nvPicPr>
          <p:cNvPr id="12" name="Image 2" descr="preencoded.png"/>
          <p:cNvPicPr>
            <a:picLocks noChangeAspect="1"/>
          </p:cNvPicPr>
          <p:nvPr/>
        </p:nvPicPr>
        <p:blipFill>
          <a:blip r:embed="rId5"/>
          <a:stretch>
            <a:fillRect/>
          </a:stretch>
        </p:blipFill>
        <p:spPr>
          <a:xfrm>
            <a:off x="6615684" y="4558284"/>
            <a:ext cx="256032" cy="256032"/>
          </a:xfrm>
          <a:prstGeom prst="rect">
            <a:avLst/>
          </a:prstGeom>
        </p:spPr>
      </p:pic>
      <p:sp>
        <p:nvSpPr>
          <p:cNvPr id="13" name="Text 8"/>
          <p:cNvSpPr/>
          <p:nvPr/>
        </p:nvSpPr>
        <p:spPr>
          <a:xfrm>
            <a:off x="7040880" y="4526280"/>
            <a:ext cx="4114800" cy="320040"/>
          </a:xfrm>
          <a:prstGeom prst="rect">
            <a:avLst/>
          </a:prstGeom>
          <a:noFill/>
          <a:ln/>
        </p:spPr>
        <p:txBody>
          <a:bodyPr wrap="square" lIns="0" tIns="0" rIns="0" bIns="0" rtlCol="0" anchor="ctr"/>
          <a:lstStyle/>
          <a:p>
            <a:pPr marL="0" indent="0">
              <a:buNone/>
            </a:pPr>
            <a:r>
              <a:rPr lang="en-US" sz="1400" b="1" dirty="0">
                <a:solidFill>
                  <a:srgbClr val="28A745"/>
                </a:solidFill>
                <a:latin typeface="Calibri" pitchFamily="34" charset="0"/>
                <a:ea typeface="Calibri" pitchFamily="34" charset="-122"/>
                <a:cs typeface="Calibri" pitchFamily="34" charset="-120"/>
              </a:rPr>
              <a:t>Confound Check Passed</a:t>
            </a:r>
            <a:endParaRPr lang="en-US" sz="1400" dirty="0"/>
          </a:p>
        </p:txBody>
      </p:sp>
      <p:sp>
        <p:nvSpPr>
          <p:cNvPr id="14" name="Text 9"/>
          <p:cNvSpPr/>
          <p:nvPr/>
        </p:nvSpPr>
        <p:spPr>
          <a:xfrm>
            <a:off x="6583680" y="4937760"/>
            <a:ext cx="4663440" cy="73152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Checked whether aggressive operators simply fly shorter/lighter missions — distance, payload, route complexity, and altitude are essentially identical across all three operator groups. The on-time advantage is genuine, not a route-assignment artifact.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5486400" cy="640080"/>
          </a:xfrm>
          <a:prstGeom prst="rect">
            <a:avLst/>
          </a:prstGeom>
          <a:noFill/>
          <a:ln/>
        </p:spPr>
        <p:txBody>
          <a:bodyPr wrap="square" lIns="0" tIns="0" rIns="0" bIns="0" rtlCol="0" anchor="ctr"/>
          <a:lstStyle/>
          <a:p>
            <a:pPr marL="0" indent="0">
              <a:buNone/>
            </a:pPr>
            <a:r>
              <a:rPr lang="en-US" sz="3600" b="1" dirty="0">
                <a:solidFill>
                  <a:srgbClr val="1A1A2E"/>
                </a:solidFill>
                <a:latin typeface="Calibri" pitchFamily="34" charset="0"/>
                <a:ea typeface="Calibri" pitchFamily="34" charset="-122"/>
                <a:cs typeface="Calibri" pitchFamily="34" charset="-120"/>
              </a:rPr>
              <a:t>Feature Engineering</a:t>
            </a:r>
            <a:endParaRPr lang="en-US" sz="3600" dirty="0"/>
          </a:p>
        </p:txBody>
      </p:sp>
      <p:sp>
        <p:nvSpPr>
          <p:cNvPr id="3" name="Text 1"/>
          <p:cNvSpPr/>
          <p:nvPr/>
        </p:nvSpPr>
        <p:spPr>
          <a:xfrm>
            <a:off x="731520" y="960120"/>
            <a:ext cx="9144000" cy="365760"/>
          </a:xfrm>
          <a:prstGeom prst="rect">
            <a:avLst/>
          </a:prstGeom>
          <a:noFill/>
          <a:ln/>
        </p:spPr>
        <p:txBody>
          <a:bodyPr wrap="square" lIns="0" tIns="0" rIns="0" bIns="0"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Converting raw string-encoded fields into numerical features the model can learn from</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401850005"/>
              </p:ext>
            </p:extLst>
          </p:nvPr>
        </p:nvGraphicFramePr>
        <p:xfrm>
          <a:off x="618083" y="1904195"/>
          <a:ext cx="6858000" cy="1536192"/>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Original Feature</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6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Example Value</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6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Engineered Features</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60000"/>
                    </a:solidFill>
                  </a:tcPr>
                </a:tc>
                <a:extLst>
                  <a:ext uri="{0D108BD9-81ED-4DB2-BD59-A6C34878D82A}">
                    <a16:rowId xmlns:a16="http://schemas.microsoft.com/office/drawing/2014/main" val="10000"/>
                  </a:ext>
                </a:extLst>
              </a:tr>
              <a:tr h="384048">
                <a:tc>
                  <a:txBody>
                    <a:bodyPr/>
                    <a:lstStyle/>
                    <a:p>
                      <a:pPr marL="0" indent="0">
                        <a:buNone/>
                      </a:pPr>
                      <a:r>
                        <a:rPr lang="en-US" sz="1250" dirty="0">
                          <a:solidFill>
                            <a:srgbClr val="2D2D2D"/>
                          </a:solidFill>
                          <a:latin typeface="Calibri" pitchFamily="34" charset="0"/>
                          <a:ea typeface="Calibri" pitchFamily="34" charset="-122"/>
                          <a:cs typeface="Calibri" pitchFamily="34" charset="-120"/>
                        </a:rPr>
                        <a:t>wind_token</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5F5F5"/>
                    </a:solidFill>
                  </a:tcPr>
                </a:tc>
                <a:tc>
                  <a:txBody>
                    <a:bodyPr/>
                    <a:lstStyle/>
                    <a:p>
                      <a:pPr marL="0" indent="0">
                        <a:buNone/>
                      </a:pPr>
                      <a:r>
                        <a:rPr lang="en-US" sz="1250" dirty="0">
                          <a:solidFill>
                            <a:srgbClr val="2D2D2D"/>
                          </a:solidFill>
                          <a:latin typeface="Calibri" pitchFamily="34" charset="0"/>
                          <a:ea typeface="Calibri" pitchFamily="34" charset="-122"/>
                          <a:cs typeface="Calibri" pitchFamily="34" charset="-120"/>
                        </a:rPr>
                        <a:t>"NE-12/18"</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5F5F5"/>
                    </a:solidFill>
                  </a:tcPr>
                </a:tc>
                <a:tc>
                  <a:txBody>
                    <a:bodyPr/>
                    <a:lstStyle/>
                    <a:p>
                      <a:pPr marL="0" indent="0">
                        <a:buNone/>
                      </a:pPr>
                      <a:r>
                        <a:rPr lang="en-US" sz="1250" dirty="0">
                          <a:solidFill>
                            <a:srgbClr val="2D2D2D"/>
                          </a:solidFill>
                          <a:latin typeface="Calibri" pitchFamily="34" charset="0"/>
                          <a:ea typeface="Calibri" pitchFamily="34" charset="-122"/>
                          <a:cs typeface="Calibri" pitchFamily="34" charset="-120"/>
                        </a:rPr>
                        <a:t>wind_avg, wind_gust, wind_direction</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384048">
                <a:tc>
                  <a:txBody>
                    <a:bodyPr/>
                    <a:lstStyle/>
                    <a:p>
                      <a:pPr marL="0" indent="0">
                        <a:buNone/>
                      </a:pPr>
                      <a:r>
                        <a:rPr lang="en-US" sz="1250" dirty="0">
                          <a:solidFill>
                            <a:srgbClr val="2D2D2D"/>
                          </a:solidFill>
                          <a:latin typeface="Calibri" pitchFamily="34" charset="0"/>
                          <a:ea typeface="Calibri" pitchFamily="34" charset="-122"/>
                          <a:cs typeface="Calibri" pitchFamily="34" charset="-120"/>
                        </a:rPr>
                        <a:t>route_turns</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marL="0" indent="0">
                        <a:buNone/>
                      </a:pPr>
                      <a:r>
                        <a:rPr lang="en-US" sz="1250" dirty="0">
                          <a:solidFill>
                            <a:srgbClr val="2D2D2D"/>
                          </a:solidFill>
                          <a:latin typeface="Calibri" pitchFamily="34" charset="0"/>
                          <a:ea typeface="Calibri" pitchFamily="34" charset="-122"/>
                          <a:cs typeface="Calibri" pitchFamily="34" charset="-120"/>
                        </a:rPr>
                        <a:t>"NNESSW..."</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marL="0" indent="0">
                        <a:buNone/>
                      </a:pPr>
                      <a:r>
                        <a:rPr lang="en-US" sz="1250" dirty="0">
                          <a:solidFill>
                            <a:srgbClr val="2D2D2D"/>
                          </a:solidFill>
                          <a:latin typeface="Calibri" pitchFamily="34" charset="0"/>
                          <a:ea typeface="Calibri" pitchFamily="34" charset="-122"/>
                          <a:cs typeface="Calibri" pitchFamily="34" charset="-120"/>
                        </a:rPr>
                        <a:t>route_length, direction_changes</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50" dirty="0">
                          <a:solidFill>
                            <a:srgbClr val="2D2D2D"/>
                          </a:solidFill>
                          <a:latin typeface="Calibri" pitchFamily="34" charset="0"/>
                          <a:ea typeface="Calibri" pitchFamily="34" charset="-122"/>
                          <a:cs typeface="Calibri" pitchFamily="34" charset="-120"/>
                        </a:rPr>
                        <a:t>alt_profile</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5F5F5"/>
                    </a:solidFill>
                  </a:tcPr>
                </a:tc>
                <a:tc>
                  <a:txBody>
                    <a:bodyPr/>
                    <a:lstStyle/>
                    <a:p>
                      <a:pPr marL="0" indent="0">
                        <a:buNone/>
                      </a:pPr>
                      <a:r>
                        <a:rPr lang="en-US" sz="1250" dirty="0">
                          <a:solidFill>
                            <a:srgbClr val="2D2D2D"/>
                          </a:solidFill>
                          <a:latin typeface="Calibri" pitchFamily="34" charset="0"/>
                          <a:ea typeface="Calibri" pitchFamily="34" charset="-122"/>
                          <a:cs typeface="Calibri" pitchFamily="34" charset="-120"/>
                        </a:rPr>
                        <a:t>"120-140-120"</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5F5F5"/>
                    </a:solidFill>
                  </a:tcPr>
                </a:tc>
                <a:tc>
                  <a:txBody>
                    <a:bodyPr/>
                    <a:lstStyle/>
                    <a:p>
                      <a:pPr marL="0" indent="0">
                        <a:buNone/>
                      </a:pPr>
                      <a:r>
                        <a:rPr lang="en-US" sz="1250" dirty="0">
                          <a:solidFill>
                            <a:srgbClr val="2D2D2D"/>
                          </a:solidFill>
                          <a:latin typeface="Calibri" pitchFamily="34" charset="0"/>
                          <a:ea typeface="Calibri" pitchFamily="34" charset="-122"/>
                          <a:cs typeface="Calibri" pitchFamily="34" charset="-120"/>
                        </a:rPr>
                        <a:t>mean_altitude, altitude_changes</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bl>
          </a:graphicData>
        </a:graphic>
      </p:graphicFrame>
      <p:sp>
        <p:nvSpPr>
          <p:cNvPr id="5" name="Shape 2"/>
          <p:cNvSpPr/>
          <p:nvPr/>
        </p:nvSpPr>
        <p:spPr>
          <a:xfrm>
            <a:off x="8069149" y="1115223"/>
            <a:ext cx="3474720" cy="914400"/>
          </a:xfrm>
          <a:prstGeom prst="roundRect">
            <a:avLst>
              <a:gd name="adj" fmla="val 8000"/>
            </a:avLst>
          </a:prstGeom>
          <a:solidFill>
            <a:srgbClr val="F5F5F5"/>
          </a:solidFill>
          <a:ln/>
        </p:spPr>
      </p:sp>
      <p:pic>
        <p:nvPicPr>
          <p:cNvPr id="6" name="Image 0" descr="preencoded.png"/>
          <p:cNvPicPr>
            <a:picLocks noChangeAspect="1"/>
          </p:cNvPicPr>
          <p:nvPr/>
        </p:nvPicPr>
        <p:blipFill>
          <a:blip r:embed="rId3"/>
          <a:stretch>
            <a:fillRect/>
          </a:stretch>
        </p:blipFill>
        <p:spPr>
          <a:xfrm>
            <a:off x="8252029" y="1279815"/>
            <a:ext cx="274320" cy="274320"/>
          </a:xfrm>
          <a:prstGeom prst="rect">
            <a:avLst/>
          </a:prstGeom>
        </p:spPr>
      </p:pic>
      <p:sp>
        <p:nvSpPr>
          <p:cNvPr id="4" name="Text 3"/>
          <p:cNvSpPr/>
          <p:nvPr/>
        </p:nvSpPr>
        <p:spPr>
          <a:xfrm>
            <a:off x="8663509" y="1206663"/>
            <a:ext cx="2651760" cy="274320"/>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Model-ready</a:t>
            </a:r>
            <a:endParaRPr lang="en-US" sz="1300" dirty="0"/>
          </a:p>
        </p:txBody>
      </p:sp>
      <p:sp>
        <p:nvSpPr>
          <p:cNvPr id="8" name="Text 4"/>
          <p:cNvSpPr/>
          <p:nvPr/>
        </p:nvSpPr>
        <p:spPr>
          <a:xfrm>
            <a:off x="8663509" y="1499271"/>
            <a:ext cx="2651760" cy="41148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Converts strings into numerical inputs models can process</a:t>
            </a:r>
            <a:endParaRPr lang="en-US" sz="1100" dirty="0"/>
          </a:p>
        </p:txBody>
      </p:sp>
      <p:sp>
        <p:nvSpPr>
          <p:cNvPr id="9" name="Shape 5"/>
          <p:cNvSpPr/>
          <p:nvPr/>
        </p:nvSpPr>
        <p:spPr>
          <a:xfrm>
            <a:off x="8069149" y="2212503"/>
            <a:ext cx="3474720" cy="914400"/>
          </a:xfrm>
          <a:prstGeom prst="roundRect">
            <a:avLst>
              <a:gd name="adj" fmla="val 8000"/>
            </a:avLst>
          </a:prstGeom>
          <a:solidFill>
            <a:srgbClr val="F5F5F5"/>
          </a:solidFill>
          <a:ln/>
        </p:spPr>
      </p:sp>
      <p:pic>
        <p:nvPicPr>
          <p:cNvPr id="10" name="Image 1" descr="preencoded.png"/>
          <p:cNvPicPr>
            <a:picLocks noChangeAspect="1"/>
          </p:cNvPicPr>
          <p:nvPr/>
        </p:nvPicPr>
        <p:blipFill>
          <a:blip r:embed="rId4"/>
          <a:stretch>
            <a:fillRect/>
          </a:stretch>
        </p:blipFill>
        <p:spPr>
          <a:xfrm>
            <a:off x="8252029" y="2377095"/>
            <a:ext cx="274320" cy="274320"/>
          </a:xfrm>
          <a:prstGeom prst="rect">
            <a:avLst/>
          </a:prstGeom>
        </p:spPr>
      </p:pic>
      <p:sp>
        <p:nvSpPr>
          <p:cNvPr id="11" name="Text 6"/>
          <p:cNvSpPr/>
          <p:nvPr/>
        </p:nvSpPr>
        <p:spPr>
          <a:xfrm>
            <a:off x="8663509" y="2303943"/>
            <a:ext cx="2651760" cy="274320"/>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Signal-rich</a:t>
            </a:r>
            <a:endParaRPr lang="en-US" sz="1300" dirty="0"/>
          </a:p>
        </p:txBody>
      </p:sp>
      <p:sp>
        <p:nvSpPr>
          <p:cNvPr id="12" name="Text 7"/>
          <p:cNvSpPr/>
          <p:nvPr/>
        </p:nvSpPr>
        <p:spPr>
          <a:xfrm>
            <a:off x="8663509" y="2596551"/>
            <a:ext cx="2651760" cy="41148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Captures operational complexity (route difficulty, turbulence)</a:t>
            </a:r>
            <a:endParaRPr lang="en-US" sz="1100" dirty="0"/>
          </a:p>
        </p:txBody>
      </p:sp>
      <p:sp>
        <p:nvSpPr>
          <p:cNvPr id="13" name="Shape 8"/>
          <p:cNvSpPr/>
          <p:nvPr/>
        </p:nvSpPr>
        <p:spPr>
          <a:xfrm>
            <a:off x="8069149" y="3309783"/>
            <a:ext cx="3474720" cy="914400"/>
          </a:xfrm>
          <a:prstGeom prst="roundRect">
            <a:avLst>
              <a:gd name="adj" fmla="val 8000"/>
            </a:avLst>
          </a:prstGeom>
          <a:solidFill>
            <a:srgbClr val="F5F5F5"/>
          </a:solidFill>
          <a:ln/>
        </p:spPr>
      </p:sp>
      <p:pic>
        <p:nvPicPr>
          <p:cNvPr id="14" name="Image 2" descr="preencoded.png"/>
          <p:cNvPicPr>
            <a:picLocks noChangeAspect="1"/>
          </p:cNvPicPr>
          <p:nvPr/>
        </p:nvPicPr>
        <p:blipFill>
          <a:blip r:embed="rId5"/>
          <a:stretch>
            <a:fillRect/>
          </a:stretch>
        </p:blipFill>
        <p:spPr>
          <a:xfrm>
            <a:off x="8252029" y="3474375"/>
            <a:ext cx="274320" cy="274320"/>
          </a:xfrm>
          <a:prstGeom prst="rect">
            <a:avLst/>
          </a:prstGeom>
        </p:spPr>
      </p:pic>
      <p:sp>
        <p:nvSpPr>
          <p:cNvPr id="15" name="Text 9"/>
          <p:cNvSpPr/>
          <p:nvPr/>
        </p:nvSpPr>
        <p:spPr>
          <a:xfrm>
            <a:off x="8663509" y="3401223"/>
            <a:ext cx="2651760" cy="274320"/>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Interpretable</a:t>
            </a:r>
            <a:endParaRPr lang="en-US" sz="1300" dirty="0"/>
          </a:p>
        </p:txBody>
      </p:sp>
      <p:sp>
        <p:nvSpPr>
          <p:cNvPr id="16" name="Text 10"/>
          <p:cNvSpPr/>
          <p:nvPr/>
        </p:nvSpPr>
        <p:spPr>
          <a:xfrm>
            <a:off x="8663509" y="3693831"/>
            <a:ext cx="2651760" cy="41148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Each engineered feature maps to a real-world meaning</a:t>
            </a:r>
            <a:endParaRPr lang="en-US" sz="1100" dirty="0"/>
          </a:p>
        </p:txBody>
      </p:sp>
      <p:sp>
        <p:nvSpPr>
          <p:cNvPr id="17" name="Shape 11"/>
          <p:cNvSpPr/>
          <p:nvPr/>
        </p:nvSpPr>
        <p:spPr>
          <a:xfrm>
            <a:off x="507234" y="4659126"/>
            <a:ext cx="10698480" cy="1645920"/>
          </a:xfrm>
          <a:prstGeom prst="roundRect">
            <a:avLst>
              <a:gd name="adj" fmla="val 5556"/>
            </a:avLst>
          </a:prstGeom>
          <a:solidFill>
            <a:srgbClr val="1A1A2E"/>
          </a:solidFill>
          <a:ln/>
        </p:spPr>
      </p:sp>
      <p:sp>
        <p:nvSpPr>
          <p:cNvPr id="18" name="Text 12"/>
          <p:cNvSpPr/>
          <p:nvPr/>
        </p:nvSpPr>
        <p:spPr>
          <a:xfrm>
            <a:off x="781554" y="4796286"/>
            <a:ext cx="3657600" cy="320040"/>
          </a:xfrm>
          <a:prstGeom prst="rect">
            <a:avLst/>
          </a:prstGeom>
          <a:noFill/>
          <a:ln/>
        </p:spPr>
        <p:txBody>
          <a:bodyPr wrap="square" lIns="0" tIns="0" rIns="0" bIns="0" rtlCol="0" anchor="ctr"/>
          <a:lstStyle/>
          <a:p>
            <a:pPr marL="0" indent="0">
              <a:buNone/>
            </a:pPr>
            <a:r>
              <a:rPr lang="en-US" sz="1400" b="1" dirty="0">
                <a:solidFill>
                  <a:srgbClr val="E60000"/>
                </a:solidFill>
                <a:latin typeface="Calibri" pitchFamily="34" charset="0"/>
                <a:ea typeface="Calibri" pitchFamily="34" charset="-122"/>
                <a:cs typeface="Calibri" pitchFamily="34" charset="-120"/>
              </a:rPr>
              <a:t>Reusable Pipeline</a:t>
            </a:r>
            <a:endParaRPr lang="en-US" sz="1400" dirty="0"/>
          </a:p>
        </p:txBody>
      </p:sp>
      <p:sp>
        <p:nvSpPr>
          <p:cNvPr id="19" name="Text 13"/>
          <p:cNvSpPr/>
          <p:nvPr/>
        </p:nvSpPr>
        <p:spPr>
          <a:xfrm>
            <a:off x="781554" y="5162046"/>
            <a:ext cx="1014984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Feature engineering is implemented as a reusable pipeline component, ensuring the same transformations are applied consistently during training and future predictions.</a:t>
            </a:r>
            <a:endParaRPr lang="en-US" sz="1200" dirty="0"/>
          </a:p>
        </p:txBody>
      </p:sp>
      <p:sp>
        <p:nvSpPr>
          <p:cNvPr id="20" name="Shape 14"/>
          <p:cNvSpPr/>
          <p:nvPr/>
        </p:nvSpPr>
        <p:spPr>
          <a:xfrm>
            <a:off x="1147314" y="5756406"/>
            <a:ext cx="2011680" cy="411480"/>
          </a:xfrm>
          <a:prstGeom prst="roundRect">
            <a:avLst>
              <a:gd name="adj" fmla="val 13333"/>
            </a:avLst>
          </a:prstGeom>
          <a:solidFill>
            <a:srgbClr val="999999"/>
          </a:solidFill>
          <a:ln/>
        </p:spPr>
      </p:sp>
      <p:sp>
        <p:nvSpPr>
          <p:cNvPr id="21" name="Text 15"/>
          <p:cNvSpPr/>
          <p:nvPr/>
        </p:nvSpPr>
        <p:spPr>
          <a:xfrm>
            <a:off x="1147314" y="5756406"/>
            <a:ext cx="20116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Raw Features</a:t>
            </a:r>
            <a:endParaRPr lang="en-US" sz="1100" dirty="0"/>
          </a:p>
        </p:txBody>
      </p:sp>
      <p:sp>
        <p:nvSpPr>
          <p:cNvPr id="22" name="Text 16"/>
          <p:cNvSpPr/>
          <p:nvPr/>
        </p:nvSpPr>
        <p:spPr>
          <a:xfrm>
            <a:off x="3158994" y="5756406"/>
            <a:ext cx="365760" cy="41148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23" name="Shape 17"/>
          <p:cNvSpPr/>
          <p:nvPr/>
        </p:nvSpPr>
        <p:spPr>
          <a:xfrm>
            <a:off x="3524754" y="5756406"/>
            <a:ext cx="2011680" cy="411480"/>
          </a:xfrm>
          <a:prstGeom prst="roundRect">
            <a:avLst>
              <a:gd name="adj" fmla="val 13333"/>
            </a:avLst>
          </a:prstGeom>
          <a:solidFill>
            <a:srgbClr val="E60000"/>
          </a:solidFill>
          <a:ln/>
        </p:spPr>
      </p:sp>
      <p:sp>
        <p:nvSpPr>
          <p:cNvPr id="24" name="Text 18"/>
          <p:cNvSpPr/>
          <p:nvPr/>
        </p:nvSpPr>
        <p:spPr>
          <a:xfrm>
            <a:off x="3524754" y="5756406"/>
            <a:ext cx="20116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Feature Engineering</a:t>
            </a:r>
            <a:endParaRPr lang="en-US" sz="1100" dirty="0"/>
          </a:p>
        </p:txBody>
      </p:sp>
      <p:sp>
        <p:nvSpPr>
          <p:cNvPr id="25" name="Text 19"/>
          <p:cNvSpPr/>
          <p:nvPr/>
        </p:nvSpPr>
        <p:spPr>
          <a:xfrm>
            <a:off x="5536434" y="5756406"/>
            <a:ext cx="365760" cy="41148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26" name="Shape 20"/>
          <p:cNvSpPr/>
          <p:nvPr/>
        </p:nvSpPr>
        <p:spPr>
          <a:xfrm>
            <a:off x="5902194" y="5756406"/>
            <a:ext cx="2011680" cy="411480"/>
          </a:xfrm>
          <a:prstGeom prst="roundRect">
            <a:avLst>
              <a:gd name="adj" fmla="val 13333"/>
            </a:avLst>
          </a:prstGeom>
          <a:solidFill>
            <a:srgbClr val="E60000"/>
          </a:solidFill>
          <a:ln/>
        </p:spPr>
      </p:sp>
      <p:sp>
        <p:nvSpPr>
          <p:cNvPr id="27" name="Text 21"/>
          <p:cNvSpPr/>
          <p:nvPr/>
        </p:nvSpPr>
        <p:spPr>
          <a:xfrm>
            <a:off x="5902194" y="5756406"/>
            <a:ext cx="20116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Preprocessing</a:t>
            </a:r>
            <a:endParaRPr lang="en-US" sz="1100" dirty="0"/>
          </a:p>
        </p:txBody>
      </p:sp>
      <p:sp>
        <p:nvSpPr>
          <p:cNvPr id="28" name="Text 22"/>
          <p:cNvSpPr/>
          <p:nvPr/>
        </p:nvSpPr>
        <p:spPr>
          <a:xfrm>
            <a:off x="7913874" y="5756406"/>
            <a:ext cx="365760" cy="41148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29" name="Shape 23"/>
          <p:cNvSpPr/>
          <p:nvPr/>
        </p:nvSpPr>
        <p:spPr>
          <a:xfrm>
            <a:off x="8279634" y="5756406"/>
            <a:ext cx="2011680" cy="411480"/>
          </a:xfrm>
          <a:prstGeom prst="roundRect">
            <a:avLst>
              <a:gd name="adj" fmla="val 13333"/>
            </a:avLst>
          </a:prstGeom>
          <a:solidFill>
            <a:srgbClr val="E60000"/>
          </a:solidFill>
          <a:ln/>
        </p:spPr>
      </p:sp>
      <p:sp>
        <p:nvSpPr>
          <p:cNvPr id="30" name="Text 24"/>
          <p:cNvSpPr/>
          <p:nvPr/>
        </p:nvSpPr>
        <p:spPr>
          <a:xfrm>
            <a:off x="8279634" y="5756406"/>
            <a:ext cx="20116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E60000"/>
          </a:solidFill>
          <a:ln/>
        </p:spPr>
      </p:sp>
      <p:sp>
        <p:nvSpPr>
          <p:cNvPr id="3" name="Text 1"/>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Machine Learning Pipeline</a:t>
            </a:r>
            <a:endParaRPr lang="en-US" sz="3600" dirty="0"/>
          </a:p>
        </p:txBody>
      </p:sp>
      <p:sp>
        <p:nvSpPr>
          <p:cNvPr id="4" name="Shape 2"/>
          <p:cNvSpPr/>
          <p:nvPr/>
        </p:nvSpPr>
        <p:spPr>
          <a:xfrm>
            <a:off x="914400" y="1280160"/>
            <a:ext cx="5029200" cy="438912"/>
          </a:xfrm>
          <a:prstGeom prst="roundRect">
            <a:avLst>
              <a:gd name="adj" fmla="val 12500"/>
            </a:avLst>
          </a:prstGeom>
          <a:solidFill>
            <a:srgbClr val="999999"/>
          </a:solidFill>
          <a:ln/>
        </p:spPr>
      </p:sp>
      <p:sp>
        <p:nvSpPr>
          <p:cNvPr id="5" name="Text 3"/>
          <p:cNvSpPr/>
          <p:nvPr/>
        </p:nvSpPr>
        <p:spPr>
          <a:xfrm>
            <a:off x="914400" y="1280160"/>
            <a:ext cx="502920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Raw Data</a:t>
            </a:r>
            <a:endParaRPr lang="en-US" sz="1250" dirty="0"/>
          </a:p>
        </p:txBody>
      </p:sp>
      <p:sp>
        <p:nvSpPr>
          <p:cNvPr id="6" name="Text 4"/>
          <p:cNvSpPr/>
          <p:nvPr/>
        </p:nvSpPr>
        <p:spPr>
          <a:xfrm>
            <a:off x="3200400" y="1691640"/>
            <a:ext cx="457200" cy="256032"/>
          </a:xfrm>
          <a:prstGeom prst="rect">
            <a:avLst/>
          </a:prstGeom>
          <a:noFill/>
          <a:ln/>
        </p:spPr>
        <p:txBody>
          <a:bodyPr wrap="square" lIns="0" tIns="0" rIns="0" bIns="0" rtlCol="0" anchor="ctr"/>
          <a:lstStyle/>
          <a:p>
            <a:pPr marL="0" indent="0" algn="ctr">
              <a:buNone/>
            </a:pPr>
            <a:r>
              <a:rPr lang="en-US" sz="1400" dirty="0">
                <a:solidFill>
                  <a:srgbClr val="999999"/>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914400" y="1938528"/>
            <a:ext cx="5029200" cy="438912"/>
          </a:xfrm>
          <a:prstGeom prst="roundRect">
            <a:avLst>
              <a:gd name="adj" fmla="val 12500"/>
            </a:avLst>
          </a:prstGeom>
          <a:solidFill>
            <a:srgbClr val="E60000"/>
          </a:solidFill>
          <a:ln/>
        </p:spPr>
      </p:sp>
      <p:sp>
        <p:nvSpPr>
          <p:cNvPr id="8" name="Text 6"/>
          <p:cNvSpPr/>
          <p:nvPr/>
        </p:nvSpPr>
        <p:spPr>
          <a:xfrm>
            <a:off x="914400" y="1938528"/>
            <a:ext cx="502920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Feature Engineering</a:t>
            </a:r>
            <a:endParaRPr lang="en-US" sz="1250" dirty="0"/>
          </a:p>
        </p:txBody>
      </p:sp>
      <p:sp>
        <p:nvSpPr>
          <p:cNvPr id="9" name="Text 7"/>
          <p:cNvSpPr/>
          <p:nvPr/>
        </p:nvSpPr>
        <p:spPr>
          <a:xfrm>
            <a:off x="3200400" y="2350008"/>
            <a:ext cx="457200" cy="256032"/>
          </a:xfrm>
          <a:prstGeom prst="rect">
            <a:avLst/>
          </a:prstGeom>
          <a:noFill/>
          <a:ln/>
        </p:spPr>
        <p:txBody>
          <a:bodyPr wrap="square" lIns="0" tIns="0" rIns="0" bIns="0" rtlCol="0" anchor="ctr"/>
          <a:lstStyle/>
          <a:p>
            <a:pPr marL="0" indent="0" algn="ctr">
              <a:buNone/>
            </a:pPr>
            <a:r>
              <a:rPr lang="en-US" sz="1400" dirty="0">
                <a:solidFill>
                  <a:srgbClr val="999999"/>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914400" y="2596896"/>
            <a:ext cx="5029200" cy="438912"/>
          </a:xfrm>
          <a:prstGeom prst="roundRect">
            <a:avLst>
              <a:gd name="adj" fmla="val 12500"/>
            </a:avLst>
          </a:prstGeom>
          <a:solidFill>
            <a:srgbClr val="E60000"/>
          </a:solidFill>
          <a:ln/>
        </p:spPr>
      </p:sp>
      <p:sp>
        <p:nvSpPr>
          <p:cNvPr id="11" name="Text 9"/>
          <p:cNvSpPr/>
          <p:nvPr/>
        </p:nvSpPr>
        <p:spPr>
          <a:xfrm>
            <a:off x="914400" y="2596896"/>
            <a:ext cx="502920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Preprocessing (Impute + Scale + Encode)</a:t>
            </a:r>
            <a:endParaRPr lang="en-US" sz="1250" dirty="0"/>
          </a:p>
        </p:txBody>
      </p:sp>
      <p:sp>
        <p:nvSpPr>
          <p:cNvPr id="12" name="Text 10"/>
          <p:cNvSpPr/>
          <p:nvPr/>
        </p:nvSpPr>
        <p:spPr>
          <a:xfrm>
            <a:off x="3200400" y="3008376"/>
            <a:ext cx="457200" cy="256032"/>
          </a:xfrm>
          <a:prstGeom prst="rect">
            <a:avLst/>
          </a:prstGeom>
          <a:noFill/>
          <a:ln/>
        </p:spPr>
        <p:txBody>
          <a:bodyPr wrap="square" lIns="0" tIns="0" rIns="0" bIns="0" rtlCol="0" anchor="ctr"/>
          <a:lstStyle/>
          <a:p>
            <a:pPr marL="0" indent="0" algn="ctr">
              <a:buNone/>
            </a:pPr>
            <a:r>
              <a:rPr lang="en-US" sz="1400" dirty="0">
                <a:solidFill>
                  <a:srgbClr val="999999"/>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914400" y="3255264"/>
            <a:ext cx="5029200" cy="438912"/>
          </a:xfrm>
          <a:prstGeom prst="roundRect">
            <a:avLst>
              <a:gd name="adj" fmla="val 12500"/>
            </a:avLst>
          </a:prstGeom>
          <a:solidFill>
            <a:srgbClr val="E60000"/>
          </a:solidFill>
          <a:ln/>
        </p:spPr>
      </p:sp>
      <p:sp>
        <p:nvSpPr>
          <p:cNvPr id="14" name="Text 12"/>
          <p:cNvSpPr/>
          <p:nvPr/>
        </p:nvSpPr>
        <p:spPr>
          <a:xfrm>
            <a:off x="914400" y="3255264"/>
            <a:ext cx="502920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RandomizedSearchCV (5-fold Stratified)</a:t>
            </a:r>
            <a:endParaRPr lang="en-US" sz="1250" dirty="0"/>
          </a:p>
        </p:txBody>
      </p:sp>
      <p:sp>
        <p:nvSpPr>
          <p:cNvPr id="15" name="Text 13"/>
          <p:cNvSpPr/>
          <p:nvPr/>
        </p:nvSpPr>
        <p:spPr>
          <a:xfrm>
            <a:off x="3200400" y="3666744"/>
            <a:ext cx="457200" cy="256032"/>
          </a:xfrm>
          <a:prstGeom prst="rect">
            <a:avLst/>
          </a:prstGeom>
          <a:noFill/>
          <a:ln/>
        </p:spPr>
        <p:txBody>
          <a:bodyPr wrap="square" lIns="0" tIns="0" rIns="0" bIns="0" rtlCol="0" anchor="ctr"/>
          <a:lstStyle/>
          <a:p>
            <a:pPr marL="0" indent="0" algn="ctr">
              <a:buNone/>
            </a:pPr>
            <a:r>
              <a:rPr lang="en-US" sz="1400" dirty="0">
                <a:solidFill>
                  <a:srgbClr val="999999"/>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914400" y="3913632"/>
            <a:ext cx="5029200" cy="438912"/>
          </a:xfrm>
          <a:prstGeom prst="roundRect">
            <a:avLst>
              <a:gd name="adj" fmla="val 12500"/>
            </a:avLst>
          </a:prstGeom>
          <a:solidFill>
            <a:srgbClr val="E60000"/>
          </a:solidFill>
          <a:ln/>
        </p:spPr>
      </p:sp>
      <p:sp>
        <p:nvSpPr>
          <p:cNvPr id="17" name="Text 15"/>
          <p:cNvSpPr/>
          <p:nvPr/>
        </p:nvSpPr>
        <p:spPr>
          <a:xfrm>
            <a:off x="914400" y="3913632"/>
            <a:ext cx="502920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Model Comparison (Bootstrap CIs)</a:t>
            </a:r>
            <a:endParaRPr lang="en-US" sz="1250" dirty="0"/>
          </a:p>
        </p:txBody>
      </p:sp>
      <p:sp>
        <p:nvSpPr>
          <p:cNvPr id="18" name="Text 16"/>
          <p:cNvSpPr/>
          <p:nvPr/>
        </p:nvSpPr>
        <p:spPr>
          <a:xfrm>
            <a:off x="3200400" y="4325112"/>
            <a:ext cx="457200" cy="256032"/>
          </a:xfrm>
          <a:prstGeom prst="rect">
            <a:avLst/>
          </a:prstGeom>
          <a:noFill/>
          <a:ln/>
        </p:spPr>
        <p:txBody>
          <a:bodyPr wrap="square" lIns="0" tIns="0" rIns="0" bIns="0" rtlCol="0" anchor="ctr"/>
          <a:lstStyle/>
          <a:p>
            <a:pPr marL="0" indent="0" algn="ctr">
              <a:buNone/>
            </a:pPr>
            <a:r>
              <a:rPr lang="en-US" sz="1400" dirty="0">
                <a:solidFill>
                  <a:srgbClr val="999999"/>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914400" y="4572000"/>
            <a:ext cx="5029200" cy="438912"/>
          </a:xfrm>
          <a:prstGeom prst="roundRect">
            <a:avLst>
              <a:gd name="adj" fmla="val 12500"/>
            </a:avLst>
          </a:prstGeom>
          <a:solidFill>
            <a:srgbClr val="E60000"/>
          </a:solidFill>
          <a:ln/>
        </p:spPr>
      </p:sp>
      <p:sp>
        <p:nvSpPr>
          <p:cNvPr id="20" name="Text 18"/>
          <p:cNvSpPr/>
          <p:nvPr/>
        </p:nvSpPr>
        <p:spPr>
          <a:xfrm>
            <a:off x="914400" y="4572000"/>
            <a:ext cx="502920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Validation on Held-Out Set</a:t>
            </a:r>
            <a:endParaRPr lang="en-US" sz="1250" dirty="0"/>
          </a:p>
        </p:txBody>
      </p:sp>
      <p:sp>
        <p:nvSpPr>
          <p:cNvPr id="21" name="Text 19"/>
          <p:cNvSpPr/>
          <p:nvPr/>
        </p:nvSpPr>
        <p:spPr>
          <a:xfrm>
            <a:off x="3200400" y="4983480"/>
            <a:ext cx="457200" cy="256032"/>
          </a:xfrm>
          <a:prstGeom prst="rect">
            <a:avLst/>
          </a:prstGeom>
          <a:noFill/>
          <a:ln/>
        </p:spPr>
        <p:txBody>
          <a:bodyPr wrap="square" lIns="0" tIns="0" rIns="0" bIns="0" rtlCol="0" anchor="ctr"/>
          <a:lstStyle/>
          <a:p>
            <a:pPr marL="0" indent="0" algn="ctr">
              <a:buNone/>
            </a:pPr>
            <a:r>
              <a:rPr lang="en-US" sz="1400" dirty="0">
                <a:solidFill>
                  <a:srgbClr val="999999"/>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914400" y="5230368"/>
            <a:ext cx="5029200" cy="438912"/>
          </a:xfrm>
          <a:prstGeom prst="roundRect">
            <a:avLst>
              <a:gd name="adj" fmla="val 12500"/>
            </a:avLst>
          </a:prstGeom>
          <a:solidFill>
            <a:srgbClr val="28A745"/>
          </a:solidFill>
          <a:ln/>
        </p:spPr>
      </p:sp>
      <p:sp>
        <p:nvSpPr>
          <p:cNvPr id="23" name="Text 21"/>
          <p:cNvSpPr/>
          <p:nvPr/>
        </p:nvSpPr>
        <p:spPr>
          <a:xfrm>
            <a:off x="914400" y="5230368"/>
            <a:ext cx="502920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Final Model Selection</a:t>
            </a:r>
            <a:endParaRPr lang="en-US" sz="1250" dirty="0"/>
          </a:p>
        </p:txBody>
      </p:sp>
      <p:sp>
        <p:nvSpPr>
          <p:cNvPr id="24" name="Text 22"/>
          <p:cNvSpPr/>
          <p:nvPr/>
        </p:nvSpPr>
        <p:spPr>
          <a:xfrm>
            <a:off x="6858000" y="1280160"/>
            <a:ext cx="4572000" cy="365760"/>
          </a:xfrm>
          <a:prstGeom prst="rect">
            <a:avLst/>
          </a:prstGeom>
          <a:noFill/>
          <a:ln/>
        </p:spPr>
        <p:txBody>
          <a:bodyPr wrap="square" lIns="0" tIns="0" rIns="0" bIns="0" rtlCol="0" anchor="ctr"/>
          <a:lstStyle/>
          <a:p>
            <a:pPr marL="0" indent="0">
              <a:buNone/>
            </a:pPr>
            <a:r>
              <a:rPr lang="en-US" sz="1800" b="1" dirty="0">
                <a:solidFill>
                  <a:srgbClr val="E60000"/>
                </a:solidFill>
                <a:latin typeface="Calibri" pitchFamily="34" charset="0"/>
                <a:ea typeface="Calibri" pitchFamily="34" charset="-122"/>
                <a:cs typeface="Calibri" pitchFamily="34" charset="-120"/>
              </a:rPr>
              <a:t>Candidate Models</a:t>
            </a:r>
            <a:endParaRPr lang="en-US" sz="1800" dirty="0"/>
          </a:p>
        </p:txBody>
      </p:sp>
      <p:sp>
        <p:nvSpPr>
          <p:cNvPr id="25" name="Shape 23"/>
          <p:cNvSpPr/>
          <p:nvPr/>
        </p:nvSpPr>
        <p:spPr>
          <a:xfrm>
            <a:off x="6858000" y="1828800"/>
            <a:ext cx="384048" cy="384048"/>
          </a:xfrm>
          <a:prstGeom prst="ellipse">
            <a:avLst/>
          </a:prstGeom>
          <a:solidFill>
            <a:srgbClr val="E60000"/>
          </a:solidFill>
          <a:ln/>
        </p:spPr>
      </p:sp>
      <p:pic>
        <p:nvPicPr>
          <p:cNvPr id="26" name="Image 0" descr="preencoded.png"/>
          <p:cNvPicPr>
            <a:picLocks noChangeAspect="1"/>
          </p:cNvPicPr>
          <p:nvPr/>
        </p:nvPicPr>
        <p:blipFill>
          <a:blip r:embed="rId3"/>
          <a:stretch>
            <a:fillRect/>
          </a:stretch>
        </p:blipFill>
        <p:spPr>
          <a:xfrm>
            <a:off x="6896405" y="1867205"/>
            <a:ext cx="307238" cy="307238"/>
          </a:xfrm>
          <a:prstGeom prst="rect">
            <a:avLst/>
          </a:prstGeom>
        </p:spPr>
      </p:pic>
      <p:sp>
        <p:nvSpPr>
          <p:cNvPr id="27" name="Text 24"/>
          <p:cNvSpPr/>
          <p:nvPr/>
        </p:nvSpPr>
        <p:spPr>
          <a:xfrm>
            <a:off x="7406640" y="1810512"/>
            <a:ext cx="4114800" cy="25603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Logistic Regression</a:t>
            </a:r>
            <a:endParaRPr lang="en-US" sz="1350" dirty="0"/>
          </a:p>
        </p:txBody>
      </p:sp>
      <p:sp>
        <p:nvSpPr>
          <p:cNvPr id="28" name="Text 25"/>
          <p:cNvSpPr/>
          <p:nvPr/>
        </p:nvSpPr>
        <p:spPr>
          <a:xfrm>
            <a:off x="7406640" y="2048256"/>
            <a:ext cx="4114800" cy="228600"/>
          </a:xfrm>
          <a:prstGeom prst="rect">
            <a:avLst/>
          </a:prstGeom>
          <a:noFill/>
          <a:ln/>
        </p:spPr>
        <p:txBody>
          <a:bodyPr wrap="square" lIns="0" tIns="0" rIns="0" bIns="0" rtlCol="0" anchor="ctr"/>
          <a:lstStyle/>
          <a:p>
            <a:pPr marL="0" indent="0">
              <a:buNone/>
            </a:pPr>
            <a:r>
              <a:rPr lang="en-US" sz="1150" dirty="0">
                <a:solidFill>
                  <a:srgbClr val="999999"/>
                </a:solidFill>
                <a:latin typeface="Calibri" pitchFamily="34" charset="0"/>
                <a:ea typeface="Calibri" pitchFamily="34" charset="-122"/>
                <a:cs typeface="Calibri" pitchFamily="34" charset="-120"/>
              </a:rPr>
              <a:t>Interpretable, direct coefficients</a:t>
            </a:r>
            <a:endParaRPr lang="en-US" sz="1150" dirty="0"/>
          </a:p>
        </p:txBody>
      </p:sp>
      <p:sp>
        <p:nvSpPr>
          <p:cNvPr id="29" name="Shape 26"/>
          <p:cNvSpPr/>
          <p:nvPr/>
        </p:nvSpPr>
        <p:spPr>
          <a:xfrm>
            <a:off x="6858000" y="2468880"/>
            <a:ext cx="384048" cy="384048"/>
          </a:xfrm>
          <a:prstGeom prst="ellipse">
            <a:avLst/>
          </a:prstGeom>
          <a:solidFill>
            <a:srgbClr val="E60000"/>
          </a:solidFill>
          <a:ln/>
        </p:spPr>
      </p:sp>
      <p:pic>
        <p:nvPicPr>
          <p:cNvPr id="30" name="Image 1" descr="preencoded.png"/>
          <p:cNvPicPr>
            <a:picLocks noChangeAspect="1"/>
          </p:cNvPicPr>
          <p:nvPr/>
        </p:nvPicPr>
        <p:blipFill>
          <a:blip r:embed="rId3"/>
          <a:stretch>
            <a:fillRect/>
          </a:stretch>
        </p:blipFill>
        <p:spPr>
          <a:xfrm>
            <a:off x="6896405" y="2507285"/>
            <a:ext cx="307238" cy="307238"/>
          </a:xfrm>
          <a:prstGeom prst="rect">
            <a:avLst/>
          </a:prstGeom>
        </p:spPr>
      </p:pic>
      <p:sp>
        <p:nvSpPr>
          <p:cNvPr id="31" name="Text 27"/>
          <p:cNvSpPr/>
          <p:nvPr/>
        </p:nvSpPr>
        <p:spPr>
          <a:xfrm>
            <a:off x="7406640" y="2450592"/>
            <a:ext cx="4114800" cy="25603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Random Forest</a:t>
            </a:r>
            <a:endParaRPr lang="en-US" sz="1350" dirty="0"/>
          </a:p>
        </p:txBody>
      </p:sp>
      <p:sp>
        <p:nvSpPr>
          <p:cNvPr id="32" name="Text 28"/>
          <p:cNvSpPr/>
          <p:nvPr/>
        </p:nvSpPr>
        <p:spPr>
          <a:xfrm>
            <a:off x="7406640" y="2688336"/>
            <a:ext cx="4114800" cy="228600"/>
          </a:xfrm>
          <a:prstGeom prst="rect">
            <a:avLst/>
          </a:prstGeom>
          <a:noFill/>
          <a:ln/>
        </p:spPr>
        <p:txBody>
          <a:bodyPr wrap="square" lIns="0" tIns="0" rIns="0" bIns="0" rtlCol="0" anchor="ctr"/>
          <a:lstStyle/>
          <a:p>
            <a:pPr marL="0" indent="0">
              <a:buNone/>
            </a:pPr>
            <a:r>
              <a:rPr lang="en-US" sz="1150" dirty="0">
                <a:solidFill>
                  <a:srgbClr val="999999"/>
                </a:solidFill>
                <a:latin typeface="Calibri" pitchFamily="34" charset="0"/>
                <a:ea typeface="Calibri" pitchFamily="34" charset="-122"/>
                <a:cs typeface="Calibri" pitchFamily="34" charset="-120"/>
              </a:rPr>
              <a:t>Non-linear, ensemble-based</a:t>
            </a:r>
            <a:endParaRPr lang="en-US" sz="1150" dirty="0"/>
          </a:p>
        </p:txBody>
      </p:sp>
      <p:sp>
        <p:nvSpPr>
          <p:cNvPr id="33" name="Shape 29"/>
          <p:cNvSpPr/>
          <p:nvPr/>
        </p:nvSpPr>
        <p:spPr>
          <a:xfrm>
            <a:off x="6858000" y="3108960"/>
            <a:ext cx="384048" cy="384048"/>
          </a:xfrm>
          <a:prstGeom prst="ellipse">
            <a:avLst/>
          </a:prstGeom>
          <a:solidFill>
            <a:srgbClr val="E60000"/>
          </a:solidFill>
          <a:ln/>
        </p:spPr>
      </p:sp>
      <p:pic>
        <p:nvPicPr>
          <p:cNvPr id="34" name="Image 2" descr="preencoded.png"/>
          <p:cNvPicPr>
            <a:picLocks noChangeAspect="1"/>
          </p:cNvPicPr>
          <p:nvPr/>
        </p:nvPicPr>
        <p:blipFill>
          <a:blip r:embed="rId3"/>
          <a:stretch>
            <a:fillRect/>
          </a:stretch>
        </p:blipFill>
        <p:spPr>
          <a:xfrm>
            <a:off x="6896405" y="3147365"/>
            <a:ext cx="307238" cy="307238"/>
          </a:xfrm>
          <a:prstGeom prst="rect">
            <a:avLst/>
          </a:prstGeom>
        </p:spPr>
      </p:pic>
      <p:sp>
        <p:nvSpPr>
          <p:cNvPr id="35" name="Text 30"/>
          <p:cNvSpPr/>
          <p:nvPr/>
        </p:nvSpPr>
        <p:spPr>
          <a:xfrm>
            <a:off x="7406640" y="3090672"/>
            <a:ext cx="4114800" cy="25603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HistGradient Boosting</a:t>
            </a:r>
            <a:endParaRPr lang="en-US" sz="1350" dirty="0"/>
          </a:p>
        </p:txBody>
      </p:sp>
      <p:sp>
        <p:nvSpPr>
          <p:cNvPr id="36" name="Text 31"/>
          <p:cNvSpPr/>
          <p:nvPr/>
        </p:nvSpPr>
        <p:spPr>
          <a:xfrm>
            <a:off x="7406640" y="3328416"/>
            <a:ext cx="4114800" cy="228600"/>
          </a:xfrm>
          <a:prstGeom prst="rect">
            <a:avLst/>
          </a:prstGeom>
          <a:noFill/>
          <a:ln/>
        </p:spPr>
        <p:txBody>
          <a:bodyPr wrap="square" lIns="0" tIns="0" rIns="0" bIns="0" rtlCol="0" anchor="ctr"/>
          <a:lstStyle/>
          <a:p>
            <a:pPr marL="0" indent="0">
              <a:buNone/>
            </a:pPr>
            <a:r>
              <a:rPr lang="en-US" sz="1150" dirty="0">
                <a:solidFill>
                  <a:srgbClr val="999999"/>
                </a:solidFill>
                <a:latin typeface="Calibri" pitchFamily="34" charset="0"/>
                <a:ea typeface="Calibri" pitchFamily="34" charset="-122"/>
                <a:cs typeface="Calibri" pitchFamily="34" charset="-120"/>
              </a:rPr>
              <a:t>Captures complex patterns</a:t>
            </a:r>
            <a:endParaRPr lang="en-US" sz="1150" dirty="0"/>
          </a:p>
        </p:txBody>
      </p:sp>
      <p:sp>
        <p:nvSpPr>
          <p:cNvPr id="37" name="Text 32"/>
          <p:cNvSpPr/>
          <p:nvPr/>
        </p:nvSpPr>
        <p:spPr>
          <a:xfrm>
            <a:off x="6858000" y="3931920"/>
            <a:ext cx="4572000" cy="365760"/>
          </a:xfrm>
          <a:prstGeom prst="rect">
            <a:avLst/>
          </a:prstGeom>
          <a:noFill/>
          <a:ln/>
        </p:spPr>
        <p:txBody>
          <a:bodyPr wrap="square" lIns="0" tIns="0" rIns="0" bIns="0" rtlCol="0" anchor="ctr"/>
          <a:lstStyle/>
          <a:p>
            <a:pPr marL="0" indent="0">
              <a:buNone/>
            </a:pPr>
            <a:r>
              <a:rPr lang="en-US" sz="1800" b="1" dirty="0">
                <a:solidFill>
                  <a:srgbClr val="E60000"/>
                </a:solidFill>
                <a:latin typeface="Calibri" pitchFamily="34" charset="0"/>
                <a:ea typeface="Calibri" pitchFamily="34" charset="-122"/>
                <a:cs typeface="Calibri" pitchFamily="34" charset="-120"/>
              </a:rPr>
              <a:t>Validation Strategy</a:t>
            </a:r>
            <a:endParaRPr lang="en-US" sz="1800" dirty="0"/>
          </a:p>
        </p:txBody>
      </p:sp>
      <p:sp>
        <p:nvSpPr>
          <p:cNvPr id="38" name="Shape 33"/>
          <p:cNvSpPr/>
          <p:nvPr/>
        </p:nvSpPr>
        <p:spPr>
          <a:xfrm>
            <a:off x="6858000" y="4389120"/>
            <a:ext cx="274320" cy="274320"/>
          </a:xfrm>
          <a:prstGeom prst="ellipse">
            <a:avLst/>
          </a:prstGeom>
          <a:solidFill>
            <a:srgbClr val="28A745"/>
          </a:solidFill>
          <a:ln/>
        </p:spPr>
      </p:sp>
      <p:pic>
        <p:nvPicPr>
          <p:cNvPr id="39" name="Image 3" descr="preencoded.png"/>
          <p:cNvPicPr>
            <a:picLocks noChangeAspect="1"/>
          </p:cNvPicPr>
          <p:nvPr/>
        </p:nvPicPr>
        <p:blipFill>
          <a:blip r:embed="rId4"/>
          <a:stretch>
            <a:fillRect/>
          </a:stretch>
        </p:blipFill>
        <p:spPr>
          <a:xfrm>
            <a:off x="6885432" y="4416552"/>
            <a:ext cx="219456" cy="219456"/>
          </a:xfrm>
          <a:prstGeom prst="rect">
            <a:avLst/>
          </a:prstGeom>
        </p:spPr>
      </p:pic>
      <p:sp>
        <p:nvSpPr>
          <p:cNvPr id="40" name="Text 34"/>
          <p:cNvSpPr/>
          <p:nvPr/>
        </p:nvSpPr>
        <p:spPr>
          <a:xfrm>
            <a:off x="7269480" y="4370832"/>
            <a:ext cx="4389120" cy="29260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80/20 stratified train-validation split</a:t>
            </a:r>
            <a:endParaRPr lang="en-US" sz="1200" dirty="0"/>
          </a:p>
        </p:txBody>
      </p:sp>
      <p:sp>
        <p:nvSpPr>
          <p:cNvPr id="41" name="Shape 35"/>
          <p:cNvSpPr/>
          <p:nvPr/>
        </p:nvSpPr>
        <p:spPr>
          <a:xfrm>
            <a:off x="6858000" y="4800600"/>
            <a:ext cx="274320" cy="274320"/>
          </a:xfrm>
          <a:prstGeom prst="ellipse">
            <a:avLst/>
          </a:prstGeom>
          <a:solidFill>
            <a:srgbClr val="28A745"/>
          </a:solidFill>
          <a:ln/>
        </p:spPr>
      </p:sp>
      <p:pic>
        <p:nvPicPr>
          <p:cNvPr id="42" name="Image 4" descr="preencoded.png"/>
          <p:cNvPicPr>
            <a:picLocks noChangeAspect="1"/>
          </p:cNvPicPr>
          <p:nvPr/>
        </p:nvPicPr>
        <p:blipFill>
          <a:blip r:embed="rId4"/>
          <a:stretch>
            <a:fillRect/>
          </a:stretch>
        </p:blipFill>
        <p:spPr>
          <a:xfrm>
            <a:off x="6885432" y="4828032"/>
            <a:ext cx="219456" cy="219456"/>
          </a:xfrm>
          <a:prstGeom prst="rect">
            <a:avLst/>
          </a:prstGeom>
        </p:spPr>
      </p:pic>
      <p:sp>
        <p:nvSpPr>
          <p:cNvPr id="43" name="Text 36"/>
          <p:cNvSpPr/>
          <p:nvPr/>
        </p:nvSpPr>
        <p:spPr>
          <a:xfrm>
            <a:off x="7269480" y="4782312"/>
            <a:ext cx="4389120" cy="29260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5-fold stratified cross-validation during tuning</a:t>
            </a:r>
            <a:endParaRPr lang="en-US" sz="1200" dirty="0"/>
          </a:p>
        </p:txBody>
      </p:sp>
      <p:sp>
        <p:nvSpPr>
          <p:cNvPr id="44" name="Shape 37"/>
          <p:cNvSpPr/>
          <p:nvPr/>
        </p:nvSpPr>
        <p:spPr>
          <a:xfrm>
            <a:off x="6858000" y="5212080"/>
            <a:ext cx="274320" cy="274320"/>
          </a:xfrm>
          <a:prstGeom prst="ellipse">
            <a:avLst/>
          </a:prstGeom>
          <a:solidFill>
            <a:srgbClr val="28A745"/>
          </a:solidFill>
          <a:ln/>
        </p:spPr>
      </p:sp>
      <p:pic>
        <p:nvPicPr>
          <p:cNvPr id="45" name="Image 5" descr="preencoded.png"/>
          <p:cNvPicPr>
            <a:picLocks noChangeAspect="1"/>
          </p:cNvPicPr>
          <p:nvPr/>
        </p:nvPicPr>
        <p:blipFill>
          <a:blip r:embed="rId4"/>
          <a:stretch>
            <a:fillRect/>
          </a:stretch>
        </p:blipFill>
        <p:spPr>
          <a:xfrm>
            <a:off x="6885432" y="5239512"/>
            <a:ext cx="219456" cy="219456"/>
          </a:xfrm>
          <a:prstGeom prst="rect">
            <a:avLst/>
          </a:prstGeom>
        </p:spPr>
      </p:pic>
      <p:sp>
        <p:nvSpPr>
          <p:cNvPr id="46" name="Text 38"/>
          <p:cNvSpPr/>
          <p:nvPr/>
        </p:nvSpPr>
        <p:spPr>
          <a:xfrm>
            <a:off x="7269480" y="5193792"/>
            <a:ext cx="4389120" cy="29260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1,000 bootstrap resamples for confidence intervals</a:t>
            </a:r>
            <a:endParaRPr lang="en-US" sz="1200" dirty="0"/>
          </a:p>
        </p:txBody>
      </p:sp>
      <p:sp>
        <p:nvSpPr>
          <p:cNvPr id="47" name="Shape 39"/>
          <p:cNvSpPr/>
          <p:nvPr/>
        </p:nvSpPr>
        <p:spPr>
          <a:xfrm>
            <a:off x="6667805" y="5669280"/>
            <a:ext cx="4572000" cy="640080"/>
          </a:xfrm>
          <a:prstGeom prst="roundRect">
            <a:avLst>
              <a:gd name="adj" fmla="val 11429"/>
            </a:avLst>
          </a:prstGeom>
          <a:solidFill>
            <a:srgbClr val="222244"/>
          </a:solidFill>
          <a:ln/>
        </p:spPr>
      </p:sp>
      <p:sp>
        <p:nvSpPr>
          <p:cNvPr id="48" name="Shape 40"/>
          <p:cNvSpPr/>
          <p:nvPr/>
        </p:nvSpPr>
        <p:spPr>
          <a:xfrm>
            <a:off x="6850685" y="5779008"/>
            <a:ext cx="347472" cy="347472"/>
          </a:xfrm>
          <a:prstGeom prst="ellipse">
            <a:avLst/>
          </a:prstGeom>
          <a:solidFill>
            <a:srgbClr val="28A745"/>
          </a:solidFill>
          <a:ln/>
        </p:spPr>
      </p:sp>
      <p:pic>
        <p:nvPicPr>
          <p:cNvPr id="49" name="Image 6" descr="preencoded.png"/>
          <p:cNvPicPr>
            <a:picLocks noChangeAspect="1"/>
          </p:cNvPicPr>
          <p:nvPr/>
        </p:nvPicPr>
        <p:blipFill>
          <a:blip r:embed="rId5"/>
          <a:stretch>
            <a:fillRect/>
          </a:stretch>
        </p:blipFill>
        <p:spPr>
          <a:xfrm>
            <a:off x="6885432" y="5813755"/>
            <a:ext cx="277978" cy="277978"/>
          </a:xfrm>
          <a:prstGeom prst="rect">
            <a:avLst/>
          </a:prstGeom>
        </p:spPr>
      </p:pic>
      <p:sp>
        <p:nvSpPr>
          <p:cNvPr id="50" name="Text 41"/>
          <p:cNvSpPr/>
          <p:nvPr/>
        </p:nvSpPr>
        <p:spPr>
          <a:xfrm>
            <a:off x="7353605" y="5715000"/>
            <a:ext cx="36576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Preprocessing and feature engineering are performed inside the pipeline, ensuring no data leakage.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1A1A2E"/>
                </a:solidFill>
                <a:latin typeface="Calibri" pitchFamily="34" charset="0"/>
                <a:ea typeface="Calibri" pitchFamily="34" charset="-122"/>
                <a:cs typeface="Calibri" pitchFamily="34" charset="-120"/>
              </a:rPr>
              <a:t>Model Comparison</a:t>
            </a:r>
            <a:endParaRPr lang="en-US" sz="3600" dirty="0"/>
          </a:p>
        </p:txBody>
      </p:sp>
      <p:sp>
        <p:nvSpPr>
          <p:cNvPr id="3" name="Text 1"/>
          <p:cNvSpPr/>
          <p:nvPr/>
        </p:nvSpPr>
        <p:spPr>
          <a:xfrm>
            <a:off x="731520" y="960120"/>
            <a:ext cx="9144000" cy="320040"/>
          </a:xfrm>
          <a:prstGeom prst="rect">
            <a:avLst/>
          </a:prstGeom>
          <a:noFill/>
          <a:ln/>
        </p:spPr>
        <p:txBody>
          <a:bodyPr wrap="square" lIns="0" tIns="0" rIns="0" bIns="0" rtlCol="0" anchor="ctr"/>
          <a:lstStyle/>
          <a:p>
            <a:pPr marL="0" indent="0">
              <a:buNone/>
            </a:pPr>
            <a:r>
              <a:rPr lang="en-US" sz="1300" i="1" dirty="0">
                <a:solidFill>
                  <a:srgbClr val="444444"/>
                </a:solidFill>
                <a:latin typeface="Calibri" pitchFamily="34" charset="0"/>
                <a:ea typeface="Calibri" pitchFamily="34" charset="-122"/>
                <a:cs typeface="Calibri" pitchFamily="34" charset="-120"/>
              </a:rPr>
              <a:t>All metrics reported with 95% bootstrap confidence intervals (1,000 resamples)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1536192"/>
        </p:xfrm>
        <a:graphic>
          <a:graphicData uri="http://schemas.openxmlformats.org/drawingml/2006/table">
            <a:tbl>
              <a:tblPr/>
              <a:tblGrid>
                <a:gridCol w="25603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6000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ROC-AUC</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6000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F1</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6000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Accuracy</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6000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PR-AUC</a:t>
                      </a:r>
                      <a:endParaRPr lang="en-US" sz="12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E60000"/>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E60000"/>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0F0"/>
                    </a:solidFill>
                  </a:tcPr>
                </a:tc>
                <a:tc>
                  <a:txBody>
                    <a:bodyPr/>
                    <a:lstStyle/>
                    <a:p>
                      <a:pPr marL="0" indent="0" algn="ctr">
                        <a:buNone/>
                      </a:pPr>
                      <a:r>
                        <a:rPr lang="en-US" sz="1150" b="1" dirty="0">
                          <a:solidFill>
                            <a:srgbClr val="E60000"/>
                          </a:solidFill>
                          <a:latin typeface="Calibri" pitchFamily="34" charset="0"/>
                          <a:ea typeface="Calibri" pitchFamily="34" charset="-122"/>
                          <a:cs typeface="Calibri" pitchFamily="34" charset="-120"/>
                        </a:rPr>
                        <a:t>0.911 [0.905, 0.917]</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0F0"/>
                    </a:solidFill>
                  </a:tcPr>
                </a:tc>
                <a:tc>
                  <a:txBody>
                    <a:bodyPr/>
                    <a:lstStyle/>
                    <a:p>
                      <a:pPr marL="0" indent="0" algn="ctr">
                        <a:buNone/>
                      </a:pPr>
                      <a:r>
                        <a:rPr lang="en-US" sz="1150" b="1" dirty="0">
                          <a:solidFill>
                            <a:srgbClr val="E60000"/>
                          </a:solidFill>
                          <a:latin typeface="Calibri" pitchFamily="34" charset="0"/>
                          <a:ea typeface="Calibri" pitchFamily="34" charset="-122"/>
                          <a:cs typeface="Calibri" pitchFamily="34" charset="-120"/>
                        </a:rPr>
                        <a:t>0.836 [0.828, 0.844]</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0F0"/>
                    </a:solidFill>
                  </a:tcPr>
                </a:tc>
                <a:tc>
                  <a:txBody>
                    <a:bodyPr/>
                    <a:lstStyle/>
                    <a:p>
                      <a:pPr marL="0" indent="0" algn="ctr">
                        <a:buNone/>
                      </a:pPr>
                      <a:r>
                        <a:rPr lang="en-US" sz="1150" b="1" dirty="0">
                          <a:solidFill>
                            <a:srgbClr val="E60000"/>
                          </a:solidFill>
                          <a:latin typeface="Calibri" pitchFamily="34" charset="0"/>
                          <a:ea typeface="Calibri" pitchFamily="34" charset="-122"/>
                          <a:cs typeface="Calibri" pitchFamily="34" charset="-120"/>
                        </a:rPr>
                        <a:t>0.813 [0.805, 0.821]</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0F0"/>
                    </a:solidFill>
                  </a:tcPr>
                </a:tc>
                <a:tc>
                  <a:txBody>
                    <a:bodyPr/>
                    <a:lstStyle/>
                    <a:p>
                      <a:pPr marL="0" indent="0" algn="ctr">
                        <a:buNone/>
                      </a:pPr>
                      <a:r>
                        <a:rPr lang="en-US" sz="1150" b="1" dirty="0">
                          <a:solidFill>
                            <a:srgbClr val="E60000"/>
                          </a:solidFill>
                          <a:latin typeface="Calibri" pitchFamily="34" charset="0"/>
                          <a:ea typeface="Calibri" pitchFamily="34" charset="-122"/>
                          <a:cs typeface="Calibri" pitchFamily="34" charset="-120"/>
                        </a:rPr>
                        <a:t>0.944 [0.940, 0.948]</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0F0"/>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2D2D2D"/>
                          </a:solidFill>
                          <a:latin typeface="Calibri" pitchFamily="34" charset="0"/>
                          <a:ea typeface="Calibri" pitchFamily="34" charset="-122"/>
                          <a:cs typeface="Calibri" pitchFamily="34" charset="-120"/>
                        </a:rPr>
                        <a:t>HistGradient Boosting</a:t>
                      </a:r>
                      <a:endParaRPr lang="en-US" sz="12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D2D2D"/>
                          </a:solidFill>
                          <a:latin typeface="Calibri" pitchFamily="34" charset="0"/>
                          <a:ea typeface="Calibri" pitchFamily="34" charset="-122"/>
                          <a:cs typeface="Calibri" pitchFamily="34" charset="-120"/>
                        </a:rPr>
                        <a:t>0.909 [0.903, 0.915]</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D2D2D"/>
                          </a:solidFill>
                          <a:latin typeface="Calibri" pitchFamily="34" charset="0"/>
                          <a:ea typeface="Calibri" pitchFamily="34" charset="-122"/>
                          <a:cs typeface="Calibri" pitchFamily="34" charset="-120"/>
                        </a:rPr>
                        <a:t>0.845 [0.837, 0.853]</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D2D2D"/>
                          </a:solidFill>
                          <a:latin typeface="Calibri" pitchFamily="34" charset="0"/>
                          <a:ea typeface="Calibri" pitchFamily="34" charset="-122"/>
                          <a:cs typeface="Calibri" pitchFamily="34" charset="-120"/>
                        </a:rPr>
                        <a:t>0.814 [0.805, 0.822]</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D2D2D"/>
                          </a:solidFill>
                          <a:latin typeface="Calibri" pitchFamily="34" charset="0"/>
                          <a:ea typeface="Calibri" pitchFamily="34" charset="-122"/>
                          <a:cs typeface="Calibri" pitchFamily="34" charset="-120"/>
                        </a:rPr>
                        <a:t>0.942 [0.938, 0.947]</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D2D2D"/>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D2D2D"/>
                          </a:solidFill>
                          <a:latin typeface="Calibri" pitchFamily="34" charset="0"/>
                          <a:ea typeface="Calibri" pitchFamily="34" charset="-122"/>
                          <a:cs typeface="Calibri" pitchFamily="34" charset="-120"/>
                        </a:rPr>
                        <a:t>0.900 [0.894, 0.907]</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D2D2D"/>
                          </a:solidFill>
                          <a:latin typeface="Calibri" pitchFamily="34" charset="0"/>
                          <a:ea typeface="Calibri" pitchFamily="34" charset="-122"/>
                          <a:cs typeface="Calibri" pitchFamily="34" charset="-120"/>
                        </a:rPr>
                        <a:t>0.827 [0.818, 0.835]</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D2D2D"/>
                          </a:solidFill>
                          <a:latin typeface="Calibri" pitchFamily="34" charset="0"/>
                          <a:ea typeface="Calibri" pitchFamily="34" charset="-122"/>
                          <a:cs typeface="Calibri" pitchFamily="34" charset="-120"/>
                        </a:rPr>
                        <a:t>0.803 [0.794, 0.812]</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D2D2D"/>
                          </a:solidFill>
                          <a:latin typeface="Calibri" pitchFamily="34" charset="0"/>
                          <a:ea typeface="Calibri" pitchFamily="34" charset="-122"/>
                          <a:cs typeface="Calibri" pitchFamily="34" charset="-120"/>
                        </a:rPr>
                        <a:t>0.937 [0.932, 0.941]</a:t>
                      </a:r>
                      <a:endParaRPr lang="en-US" sz="115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5" name="Image 0" descr="preencoded.png"/>
          <p:cNvPicPr>
            <a:picLocks noChangeAspect="1"/>
          </p:cNvPicPr>
          <p:nvPr/>
        </p:nvPicPr>
        <p:blipFill>
          <a:blip r:embed="rId3"/>
          <a:stretch>
            <a:fillRect/>
          </a:stretch>
        </p:blipFill>
        <p:spPr>
          <a:xfrm>
            <a:off x="457200" y="3200400"/>
            <a:ext cx="5943600" cy="3200400"/>
          </a:xfrm>
          <a:prstGeom prst="rect">
            <a:avLst/>
          </a:prstGeom>
        </p:spPr>
      </p:pic>
      <p:sp>
        <p:nvSpPr>
          <p:cNvPr id="6" name="Shape 2"/>
          <p:cNvSpPr/>
          <p:nvPr/>
        </p:nvSpPr>
        <p:spPr>
          <a:xfrm>
            <a:off x="6858000" y="3291840"/>
            <a:ext cx="4572000" cy="2926080"/>
          </a:xfrm>
          <a:prstGeom prst="roundRect">
            <a:avLst>
              <a:gd name="adj" fmla="val 3125"/>
            </a:avLst>
          </a:prstGeom>
          <a:solidFill>
            <a:srgbClr val="F5F5F5"/>
          </a:solidFill>
          <a:ln/>
        </p:spPr>
      </p:sp>
      <p:sp>
        <p:nvSpPr>
          <p:cNvPr id="7" name="Text 3"/>
          <p:cNvSpPr/>
          <p:nvPr/>
        </p:nvSpPr>
        <p:spPr>
          <a:xfrm>
            <a:off x="7132320" y="3429000"/>
            <a:ext cx="4023360" cy="365760"/>
          </a:xfrm>
          <a:prstGeom prst="rect">
            <a:avLst/>
          </a:prstGeom>
          <a:noFill/>
          <a:ln/>
        </p:spPr>
        <p:txBody>
          <a:bodyPr wrap="square" lIns="0" tIns="0" rIns="0" bIns="0" rtlCol="0" anchor="ctr"/>
          <a:lstStyle/>
          <a:p>
            <a:pPr marL="0" indent="0">
              <a:buNone/>
            </a:pPr>
            <a:r>
              <a:rPr lang="en-US" sz="1600" b="1" dirty="0">
                <a:solidFill>
                  <a:srgbClr val="E60000"/>
                </a:solidFill>
                <a:latin typeface="Calibri" pitchFamily="34" charset="0"/>
                <a:ea typeface="Calibri" pitchFamily="34" charset="-122"/>
                <a:cs typeface="Calibri" pitchFamily="34" charset="-120"/>
              </a:rPr>
              <a:t>Why Logistic Regression?</a:t>
            </a:r>
            <a:endParaRPr lang="en-US" sz="1600" dirty="0"/>
          </a:p>
        </p:txBody>
      </p:sp>
      <p:pic>
        <p:nvPicPr>
          <p:cNvPr id="8" name="Image 1" descr="preencoded.png"/>
          <p:cNvPicPr>
            <a:picLocks noChangeAspect="1"/>
          </p:cNvPicPr>
          <p:nvPr/>
        </p:nvPicPr>
        <p:blipFill>
          <a:blip r:embed="rId4"/>
          <a:stretch>
            <a:fillRect/>
          </a:stretch>
        </p:blipFill>
        <p:spPr>
          <a:xfrm>
            <a:off x="7223760" y="3950208"/>
            <a:ext cx="256032" cy="256032"/>
          </a:xfrm>
          <a:prstGeom prst="rect">
            <a:avLst/>
          </a:prstGeom>
        </p:spPr>
      </p:pic>
      <p:sp>
        <p:nvSpPr>
          <p:cNvPr id="4" name="Text 4"/>
          <p:cNvSpPr/>
          <p:nvPr/>
        </p:nvSpPr>
        <p:spPr>
          <a:xfrm>
            <a:off x="7635240" y="3931920"/>
            <a:ext cx="3566160" cy="320040"/>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Comparable ROC-AUC to HistGB (CIs overlap)</a:t>
            </a:r>
            <a:endParaRPr lang="en-US" sz="1200" dirty="0"/>
          </a:p>
        </p:txBody>
      </p:sp>
      <p:pic>
        <p:nvPicPr>
          <p:cNvPr id="10" name="Image 2" descr="preencoded.png"/>
          <p:cNvPicPr>
            <a:picLocks noChangeAspect="1"/>
          </p:cNvPicPr>
          <p:nvPr/>
        </p:nvPicPr>
        <p:blipFill>
          <a:blip r:embed="rId5"/>
          <a:stretch>
            <a:fillRect/>
          </a:stretch>
        </p:blipFill>
        <p:spPr>
          <a:xfrm>
            <a:off x="7223760" y="4425696"/>
            <a:ext cx="256032" cy="256032"/>
          </a:xfrm>
          <a:prstGeom prst="rect">
            <a:avLst/>
          </a:prstGeom>
        </p:spPr>
      </p:pic>
      <p:sp>
        <p:nvSpPr>
          <p:cNvPr id="11" name="Text 5"/>
          <p:cNvSpPr/>
          <p:nvPr/>
        </p:nvSpPr>
        <p:spPr>
          <a:xfrm>
            <a:off x="7635240" y="4407408"/>
            <a:ext cx="3566160" cy="320040"/>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Fully interpretable via coefficients and odds ratios</a:t>
            </a:r>
            <a:endParaRPr lang="en-US" sz="1200" dirty="0"/>
          </a:p>
        </p:txBody>
      </p:sp>
      <p:pic>
        <p:nvPicPr>
          <p:cNvPr id="12" name="Image 3" descr="preencoded.png"/>
          <p:cNvPicPr>
            <a:picLocks noChangeAspect="1"/>
          </p:cNvPicPr>
          <p:nvPr/>
        </p:nvPicPr>
        <p:blipFill>
          <a:blip r:embed="rId6"/>
          <a:stretch>
            <a:fillRect/>
          </a:stretch>
        </p:blipFill>
        <p:spPr>
          <a:xfrm>
            <a:off x="7223760" y="4901184"/>
            <a:ext cx="256032" cy="256032"/>
          </a:xfrm>
          <a:prstGeom prst="rect">
            <a:avLst/>
          </a:prstGeom>
        </p:spPr>
      </p:pic>
      <p:sp>
        <p:nvSpPr>
          <p:cNvPr id="13" name="Text 6"/>
          <p:cNvSpPr/>
          <p:nvPr/>
        </p:nvSpPr>
        <p:spPr>
          <a:xfrm>
            <a:off x="7635240" y="4882896"/>
            <a:ext cx="3566160" cy="320040"/>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Computationally efficient to train and deploy</a:t>
            </a:r>
            <a:endParaRPr lang="en-US" sz="1200" dirty="0"/>
          </a:p>
        </p:txBody>
      </p:sp>
      <p:pic>
        <p:nvPicPr>
          <p:cNvPr id="14" name="Image 4" descr="preencoded.png"/>
          <p:cNvPicPr>
            <a:picLocks noChangeAspect="1"/>
          </p:cNvPicPr>
          <p:nvPr/>
        </p:nvPicPr>
        <p:blipFill>
          <a:blip r:embed="rId7"/>
          <a:stretch>
            <a:fillRect/>
          </a:stretch>
        </p:blipFill>
        <p:spPr>
          <a:xfrm>
            <a:off x="7223760" y="5376672"/>
            <a:ext cx="256032" cy="256032"/>
          </a:xfrm>
          <a:prstGeom prst="rect">
            <a:avLst/>
          </a:prstGeom>
        </p:spPr>
      </p:pic>
      <p:sp>
        <p:nvSpPr>
          <p:cNvPr id="15" name="Text 7"/>
          <p:cNvSpPr/>
          <p:nvPr/>
        </p:nvSpPr>
        <p:spPr>
          <a:xfrm>
            <a:off x="7635240" y="5358384"/>
            <a:ext cx="3566160" cy="320040"/>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Direct mapping from features to business levers</a:t>
            </a:r>
            <a:endParaRPr lang="en-US" sz="1200" dirty="0"/>
          </a:p>
        </p:txBody>
      </p:sp>
      <p:sp>
        <p:nvSpPr>
          <p:cNvPr id="16" name="Text 8"/>
          <p:cNvSpPr/>
          <p:nvPr/>
        </p:nvSpPr>
        <p:spPr>
          <a:xfrm>
            <a:off x="7269480" y="5618902"/>
            <a:ext cx="3931920" cy="640080"/>
          </a:xfrm>
          <a:prstGeom prst="rect">
            <a:avLst/>
          </a:prstGeom>
          <a:noFill/>
          <a:ln/>
        </p:spPr>
        <p:txBody>
          <a:bodyPr wrap="square" lIns="0" tIns="0" rIns="0" bIns="0" rtlCol="0" anchor="ctr"/>
          <a:lstStyle/>
          <a:p>
            <a:pPr marL="0" indent="0">
              <a:buNone/>
            </a:pPr>
            <a:r>
              <a:rPr lang="en-US" sz="1050" i="1" dirty="0">
                <a:solidFill>
                  <a:srgbClr val="999999"/>
                </a:solidFill>
                <a:latin typeface="Calibri" pitchFamily="34" charset="0"/>
                <a:ea typeface="Calibri" pitchFamily="34" charset="-122"/>
                <a:cs typeface="Calibri" pitchFamily="34" charset="-120"/>
              </a:rPr>
              <a:t>Both models achieved very similar performance (overlapping CIs). Logistic Regression was selected for its substantially better interpretability while maintaining comparable predictive accuracy.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0" cy="640080"/>
          </a:xfrm>
          <a:prstGeom prst="rect">
            <a:avLst/>
          </a:prstGeom>
          <a:noFill/>
          <a:ln/>
        </p:spPr>
        <p:txBody>
          <a:bodyPr wrap="square" lIns="0" tIns="0" rIns="0" bIns="0" rtlCol="0" anchor="ctr"/>
          <a:lstStyle/>
          <a:p>
            <a:pPr marL="0" indent="0">
              <a:buNone/>
            </a:pPr>
            <a:r>
              <a:rPr lang="en-US" sz="3600" b="1" dirty="0">
                <a:solidFill>
                  <a:srgbClr val="1A1A2E"/>
                </a:solidFill>
                <a:latin typeface="Calibri" pitchFamily="34" charset="0"/>
                <a:ea typeface="Calibri" pitchFamily="34" charset="-122"/>
                <a:cs typeface="Calibri" pitchFamily="34" charset="-120"/>
              </a:rPr>
              <a:t>Selected Model — Detailed Evaluation</a:t>
            </a:r>
            <a:endParaRPr lang="en-US" sz="3600" dirty="0"/>
          </a:p>
        </p:txBody>
      </p:sp>
      <p:sp>
        <p:nvSpPr>
          <p:cNvPr id="3" name="Text 1"/>
          <p:cNvSpPr/>
          <p:nvPr/>
        </p:nvSpPr>
        <p:spPr>
          <a:xfrm>
            <a:off x="731520" y="960120"/>
            <a:ext cx="9144000" cy="320040"/>
          </a:xfrm>
          <a:prstGeom prst="rect">
            <a:avLst/>
          </a:prstGeom>
          <a:noFill/>
          <a:ln/>
        </p:spPr>
        <p:txBody>
          <a:bodyPr wrap="square" lIns="0" tIns="0" rIns="0" bIns="0" rtlCol="0" anchor="ctr"/>
          <a:lstStyle/>
          <a:p>
            <a:pPr marL="0" indent="0">
              <a:buNone/>
            </a:pPr>
            <a:r>
              <a:rPr lang="en-US" sz="1300" i="1" dirty="0">
                <a:solidFill>
                  <a:srgbClr val="444444"/>
                </a:solidFill>
                <a:latin typeface="Calibri" pitchFamily="34" charset="0"/>
                <a:ea typeface="Calibri" pitchFamily="34" charset="-122"/>
                <a:cs typeface="Calibri" pitchFamily="34" charset="-120"/>
              </a:rPr>
              <a:t>Logistic Regression evaluated on the held-out validation set (20% of training data, never used during tuning)</a:t>
            </a:r>
            <a:endParaRPr lang="en-US" sz="1300" dirty="0"/>
          </a:p>
        </p:txBody>
      </p:sp>
      <p:pic>
        <p:nvPicPr>
          <p:cNvPr id="4" name="Image 0" descr="preencoded.png"/>
          <p:cNvPicPr>
            <a:picLocks noChangeAspect="1"/>
          </p:cNvPicPr>
          <p:nvPr/>
        </p:nvPicPr>
        <p:blipFill>
          <a:blip r:embed="rId3"/>
          <a:stretch>
            <a:fillRect/>
          </a:stretch>
        </p:blipFill>
        <p:spPr>
          <a:xfrm>
            <a:off x="457200" y="1554480"/>
            <a:ext cx="3657600" cy="3200400"/>
          </a:xfrm>
          <a:prstGeom prst="rect">
            <a:avLst/>
          </a:prstGeom>
        </p:spPr>
      </p:pic>
      <p:pic>
        <p:nvPicPr>
          <p:cNvPr id="5" name="Image 1" descr="preencoded.png"/>
          <p:cNvPicPr>
            <a:picLocks noChangeAspect="1"/>
          </p:cNvPicPr>
          <p:nvPr/>
        </p:nvPicPr>
        <p:blipFill>
          <a:blip r:embed="rId4"/>
          <a:stretch>
            <a:fillRect/>
          </a:stretch>
        </p:blipFill>
        <p:spPr>
          <a:xfrm>
            <a:off x="4297680" y="1554480"/>
            <a:ext cx="3657600" cy="3200400"/>
          </a:xfrm>
          <a:prstGeom prst="rect">
            <a:avLst/>
          </a:prstGeom>
        </p:spPr>
      </p:pic>
      <p:pic>
        <p:nvPicPr>
          <p:cNvPr id="6" name="Image 2" descr="preencoded.png"/>
          <p:cNvPicPr>
            <a:picLocks noChangeAspect="1"/>
          </p:cNvPicPr>
          <p:nvPr/>
        </p:nvPicPr>
        <p:blipFill>
          <a:blip r:embed="rId5"/>
          <a:stretch>
            <a:fillRect/>
          </a:stretch>
        </p:blipFill>
        <p:spPr>
          <a:xfrm>
            <a:off x="8138160" y="1554480"/>
            <a:ext cx="3657600" cy="3200400"/>
          </a:xfrm>
          <a:prstGeom prst="rect">
            <a:avLst/>
          </a:prstGeom>
        </p:spPr>
      </p:pic>
      <p:sp>
        <p:nvSpPr>
          <p:cNvPr id="7" name="Text 2"/>
          <p:cNvSpPr/>
          <p:nvPr/>
        </p:nvSpPr>
        <p:spPr>
          <a:xfrm>
            <a:off x="731520" y="5029200"/>
            <a:ext cx="4572000" cy="320040"/>
          </a:xfrm>
          <a:prstGeom prst="rect">
            <a:avLst/>
          </a:prstGeom>
          <a:noFill/>
          <a:ln/>
        </p:spPr>
        <p:txBody>
          <a:bodyPr wrap="square" lIns="0" tIns="0" rIns="0" bIns="0" rtlCol="0" anchor="ctr"/>
          <a:lstStyle/>
          <a:p>
            <a:pPr marL="0" indent="0">
              <a:buNone/>
            </a:pPr>
            <a:r>
              <a:rPr lang="en-US" sz="1600" b="1" dirty="0">
                <a:solidFill>
                  <a:srgbClr val="E60000"/>
                </a:solidFill>
                <a:latin typeface="Calibri" pitchFamily="34" charset="0"/>
                <a:ea typeface="Calibri" pitchFamily="34" charset="-122"/>
                <a:cs typeface="Calibri" pitchFamily="34" charset="-120"/>
              </a:rPr>
              <a:t>Reading the Results</a:t>
            </a:r>
            <a:endParaRPr lang="en-US" sz="1600" dirty="0"/>
          </a:p>
        </p:txBody>
      </p:sp>
      <p:pic>
        <p:nvPicPr>
          <p:cNvPr id="8" name="Image 3" descr="preencoded.png"/>
          <p:cNvPicPr>
            <a:picLocks noChangeAspect="1"/>
          </p:cNvPicPr>
          <p:nvPr/>
        </p:nvPicPr>
        <p:blipFill>
          <a:blip r:embed="rId6"/>
          <a:stretch>
            <a:fillRect/>
          </a:stretch>
        </p:blipFill>
        <p:spPr>
          <a:xfrm>
            <a:off x="731520" y="5486400"/>
            <a:ext cx="237744" cy="237744"/>
          </a:xfrm>
          <a:prstGeom prst="rect">
            <a:avLst/>
          </a:prstGeom>
        </p:spPr>
      </p:pic>
      <p:sp>
        <p:nvSpPr>
          <p:cNvPr id="9" name="Text 3"/>
          <p:cNvSpPr/>
          <p:nvPr/>
        </p:nvSpPr>
        <p:spPr>
          <a:xfrm>
            <a:off x="1097280" y="5449824"/>
            <a:ext cx="10332720" cy="320040"/>
          </a:xfrm>
          <a:prstGeom prst="rect">
            <a:avLst/>
          </a:prstGeom>
          <a:noFill/>
          <a:ln/>
        </p:spPr>
        <p:txBody>
          <a:bodyPr wrap="square" lIns="0" tIns="0" rIns="0" bIns="0" rtlCol="0" anchor="ctr"/>
          <a:lstStyle/>
          <a:p>
            <a:pPr marL="0" indent="0">
              <a:buNone/>
            </a:pPr>
            <a:r>
              <a:rPr lang="en-US" sz="1150" dirty="0">
                <a:solidFill>
                  <a:srgbClr val="444444"/>
                </a:solidFill>
                <a:latin typeface="Calibri" pitchFamily="34" charset="0"/>
                <a:ea typeface="Calibri" pitchFamily="34" charset="-122"/>
                <a:cs typeface="Calibri" pitchFamily="34" charset="-120"/>
              </a:rPr>
              <a:t>Confusion matrix shows the model's errors are roughly balanced between false positives and false negatives — no strong bias toward either error type</a:t>
            </a:r>
            <a:endParaRPr lang="en-US" sz="1150" dirty="0"/>
          </a:p>
        </p:txBody>
      </p:sp>
      <p:pic>
        <p:nvPicPr>
          <p:cNvPr id="10" name="Image 4" descr="preencoded.png"/>
          <p:cNvPicPr>
            <a:picLocks noChangeAspect="1"/>
          </p:cNvPicPr>
          <p:nvPr/>
        </p:nvPicPr>
        <p:blipFill>
          <a:blip r:embed="rId7"/>
          <a:stretch>
            <a:fillRect/>
          </a:stretch>
        </p:blipFill>
        <p:spPr>
          <a:xfrm>
            <a:off x="731520" y="5870448"/>
            <a:ext cx="237744" cy="237744"/>
          </a:xfrm>
          <a:prstGeom prst="rect">
            <a:avLst/>
          </a:prstGeom>
        </p:spPr>
      </p:pic>
      <p:sp>
        <p:nvSpPr>
          <p:cNvPr id="11" name="Text 4"/>
          <p:cNvSpPr/>
          <p:nvPr/>
        </p:nvSpPr>
        <p:spPr>
          <a:xfrm>
            <a:off x="1097280" y="5833872"/>
            <a:ext cx="10332720" cy="320040"/>
          </a:xfrm>
          <a:prstGeom prst="rect">
            <a:avLst/>
          </a:prstGeom>
          <a:noFill/>
          <a:ln/>
        </p:spPr>
        <p:txBody>
          <a:bodyPr wrap="square" lIns="0" tIns="0" rIns="0" bIns="0" rtlCol="0" anchor="ctr"/>
          <a:lstStyle/>
          <a:p>
            <a:pPr marL="0" indent="0">
              <a:buNone/>
            </a:pPr>
            <a:r>
              <a:rPr lang="en-US" sz="1150" dirty="0">
                <a:solidFill>
                  <a:srgbClr val="444444"/>
                </a:solidFill>
                <a:latin typeface="Calibri" pitchFamily="34" charset="0"/>
                <a:ea typeface="Calibri" pitchFamily="34" charset="-122"/>
                <a:cs typeface="Calibri" pitchFamily="34" charset="-120"/>
              </a:rPr>
              <a:t>ROC curve (AUC = 0.911) confirms strong discrimination between on-time and late deliveries across all thresholds</a:t>
            </a:r>
            <a:endParaRPr lang="en-US" sz="1150" dirty="0"/>
          </a:p>
        </p:txBody>
      </p:sp>
      <p:pic>
        <p:nvPicPr>
          <p:cNvPr id="12" name="Image 5" descr="preencoded.png"/>
          <p:cNvPicPr>
            <a:picLocks noChangeAspect="1"/>
          </p:cNvPicPr>
          <p:nvPr/>
        </p:nvPicPr>
        <p:blipFill>
          <a:blip r:embed="rId8"/>
          <a:stretch>
            <a:fillRect/>
          </a:stretch>
        </p:blipFill>
        <p:spPr>
          <a:xfrm>
            <a:off x="731520" y="6254496"/>
            <a:ext cx="237744" cy="237744"/>
          </a:xfrm>
          <a:prstGeom prst="rect">
            <a:avLst/>
          </a:prstGeom>
        </p:spPr>
      </p:pic>
      <p:sp>
        <p:nvSpPr>
          <p:cNvPr id="13" name="Text 5"/>
          <p:cNvSpPr/>
          <p:nvPr/>
        </p:nvSpPr>
        <p:spPr>
          <a:xfrm>
            <a:off x="1097280" y="6217920"/>
            <a:ext cx="10332720" cy="320040"/>
          </a:xfrm>
          <a:prstGeom prst="rect">
            <a:avLst/>
          </a:prstGeom>
          <a:noFill/>
          <a:ln/>
        </p:spPr>
        <p:txBody>
          <a:bodyPr wrap="square" lIns="0" tIns="0" rIns="0" bIns="0" rtlCol="0" anchor="ctr"/>
          <a:lstStyle/>
          <a:p>
            <a:pPr marL="0" indent="0">
              <a:buNone/>
            </a:pPr>
            <a:r>
              <a:rPr lang="en-US" sz="1150" dirty="0">
                <a:solidFill>
                  <a:srgbClr val="444444"/>
                </a:solidFill>
                <a:latin typeface="Calibri" pitchFamily="34" charset="0"/>
                <a:ea typeface="Calibri" pitchFamily="34" charset="-122"/>
                <a:cs typeface="Calibri" pitchFamily="34" charset="-120"/>
              </a:rPr>
              <a:t>PR curve (AUC = 0.944) shows high precision is maintained even at high recall — important for a dispatch decision tool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7" name="Image 1" descr="preencoded.png"/>
          <p:cNvPicPr>
            <a:picLocks noChangeAspect="1"/>
          </p:cNvPicPr>
          <p:nvPr/>
        </p:nvPicPr>
        <p:blipFill>
          <a:blip r:embed="rId3"/>
          <a:stretch>
            <a:fillRect/>
          </a:stretch>
        </p:blipFill>
        <p:spPr>
          <a:xfrm>
            <a:off x="110416" y="1064246"/>
            <a:ext cx="5223467" cy="3515795"/>
          </a:xfrm>
          <a:prstGeom prst="rect">
            <a:avLst/>
          </a:prstGeom>
        </p:spPr>
      </p:pic>
      <p:pic>
        <p:nvPicPr>
          <p:cNvPr id="4" name="Image 0" descr="preencoded.png"/>
          <p:cNvPicPr>
            <a:picLocks noChangeAspect="1"/>
          </p:cNvPicPr>
          <p:nvPr/>
        </p:nvPicPr>
        <p:blipFill>
          <a:blip r:embed="rId4"/>
          <a:stretch>
            <a:fillRect/>
          </a:stretch>
        </p:blipFill>
        <p:spPr>
          <a:xfrm>
            <a:off x="6122453" y="876552"/>
            <a:ext cx="5602352" cy="3950377"/>
          </a:xfrm>
          <a:prstGeom prst="rect">
            <a:avLst/>
          </a:prstGeom>
        </p:spPr>
      </p:pic>
      <p:sp>
        <p:nvSpPr>
          <p:cNvPr id="2" name="Text 0"/>
          <p:cNvSpPr/>
          <p:nvPr/>
        </p:nvSpPr>
        <p:spPr>
          <a:xfrm>
            <a:off x="731520" y="292543"/>
            <a:ext cx="7315200" cy="640080"/>
          </a:xfrm>
          <a:prstGeom prst="rect">
            <a:avLst/>
          </a:prstGeom>
          <a:noFill/>
          <a:ln/>
        </p:spPr>
        <p:txBody>
          <a:bodyPr wrap="square" lIns="0" tIns="0" rIns="0" bIns="0" rtlCol="0" anchor="ctr"/>
          <a:lstStyle/>
          <a:p>
            <a:pPr marL="0" indent="0">
              <a:buNone/>
            </a:pPr>
            <a:r>
              <a:rPr lang="en-US" sz="3600" b="1" dirty="0">
                <a:solidFill>
                  <a:srgbClr val="1A1A2E"/>
                </a:solidFill>
                <a:latin typeface="Calibri" pitchFamily="34" charset="0"/>
                <a:ea typeface="Calibri" pitchFamily="34" charset="-122"/>
                <a:cs typeface="Calibri" pitchFamily="34" charset="-120"/>
              </a:rPr>
              <a:t>Model Interpretation</a:t>
            </a:r>
            <a:endParaRPr lang="en-US" sz="3600" dirty="0"/>
          </a:p>
        </p:txBody>
      </p:sp>
      <p:sp>
        <p:nvSpPr>
          <p:cNvPr id="3" name="Text 1"/>
          <p:cNvSpPr/>
          <p:nvPr/>
        </p:nvSpPr>
        <p:spPr>
          <a:xfrm>
            <a:off x="731520" y="779260"/>
            <a:ext cx="9144000" cy="394770"/>
          </a:xfrm>
          <a:prstGeom prst="rect">
            <a:avLst/>
          </a:prstGeom>
          <a:noFill/>
          <a:ln/>
        </p:spPr>
        <p:txBody>
          <a:bodyPr wrap="square" lIns="0" tIns="0" rIns="0" bIns="0" rtlCol="0" anchor="ctr"/>
          <a:lstStyle/>
          <a:p>
            <a:pPr marL="0" indent="0">
              <a:buNone/>
            </a:pPr>
            <a:r>
              <a:rPr lang="en-US" sz="1300" i="1" dirty="0">
                <a:solidFill>
                  <a:srgbClr val="444444"/>
                </a:solidFill>
                <a:latin typeface="Calibri" pitchFamily="34" charset="0"/>
                <a:ea typeface="Calibri" pitchFamily="34" charset="-122"/>
                <a:cs typeface="Calibri" pitchFamily="34" charset="-120"/>
              </a:rPr>
              <a:t>Strongest operational drivers of on-time delivery </a:t>
            </a:r>
            <a:endParaRPr lang="en-US" sz="1300" dirty="0"/>
          </a:p>
        </p:txBody>
      </p:sp>
      <p:sp>
        <p:nvSpPr>
          <p:cNvPr id="6" name="Text 3"/>
          <p:cNvSpPr/>
          <p:nvPr/>
        </p:nvSpPr>
        <p:spPr>
          <a:xfrm>
            <a:off x="474096" y="4474087"/>
            <a:ext cx="4935987" cy="320040"/>
          </a:xfrm>
          <a:prstGeom prst="rect">
            <a:avLst/>
          </a:prstGeom>
          <a:noFill/>
          <a:ln/>
        </p:spPr>
        <p:txBody>
          <a:bodyPr wrap="square" lIns="0" tIns="0" rIns="0" bIns="0" rtlCol="0" anchor="ctr"/>
          <a:lstStyle/>
          <a:p>
            <a:pPr marL="0" indent="0">
              <a:buNone/>
            </a:pPr>
            <a:r>
              <a:rPr lang="en-US" sz="1050" i="1" dirty="0">
                <a:solidFill>
                  <a:srgbClr val="999999"/>
                </a:solidFill>
                <a:latin typeface="Calibri" pitchFamily="34" charset="0"/>
                <a:ea typeface="Calibri" pitchFamily="34" charset="-122"/>
                <a:cs typeface="Calibri" pitchFamily="34" charset="-120"/>
              </a:rPr>
              <a:t>Coefficients grouped into business categories (mean absolute coefficient per group)</a:t>
            </a:r>
            <a:endParaRPr lang="en-US" sz="1050" dirty="0"/>
          </a:p>
        </p:txBody>
      </p:sp>
      <p:sp>
        <p:nvSpPr>
          <p:cNvPr id="10" name="Shape 2">
            <a:extLst>
              <a:ext uri="{FF2B5EF4-FFF2-40B4-BE49-F238E27FC236}">
                <a16:creationId xmlns:a16="http://schemas.microsoft.com/office/drawing/2014/main" id="{F1ACCB03-3AB5-7142-BB6B-F3093AD1DEC8}"/>
              </a:ext>
            </a:extLst>
          </p:cNvPr>
          <p:cNvSpPr/>
          <p:nvPr/>
        </p:nvSpPr>
        <p:spPr>
          <a:xfrm>
            <a:off x="99146" y="4735489"/>
            <a:ext cx="8055921" cy="2057400"/>
          </a:xfrm>
          <a:prstGeom prst="roundRect">
            <a:avLst>
              <a:gd name="adj" fmla="val 3922"/>
            </a:avLst>
          </a:prstGeom>
          <a:solidFill>
            <a:srgbClr val="F5F5F5"/>
          </a:solidFill>
          <a:ln/>
        </p:spPr>
      </p:sp>
      <p:sp>
        <p:nvSpPr>
          <p:cNvPr id="11" name="Text 3">
            <a:extLst>
              <a:ext uri="{FF2B5EF4-FFF2-40B4-BE49-F238E27FC236}">
                <a16:creationId xmlns:a16="http://schemas.microsoft.com/office/drawing/2014/main" id="{100B1D46-3A99-2FD1-7B36-E8867725D485}"/>
              </a:ext>
            </a:extLst>
          </p:cNvPr>
          <p:cNvSpPr/>
          <p:nvPr/>
        </p:nvSpPr>
        <p:spPr>
          <a:xfrm>
            <a:off x="251546" y="4826929"/>
            <a:ext cx="3657600" cy="320040"/>
          </a:xfrm>
          <a:prstGeom prst="rect">
            <a:avLst/>
          </a:prstGeom>
          <a:noFill/>
          <a:ln/>
        </p:spPr>
        <p:txBody>
          <a:bodyPr wrap="square" lIns="0" tIns="0" rIns="0" bIns="0" rtlCol="0" anchor="ctr"/>
          <a:lstStyle/>
          <a:p>
            <a:pPr marL="0" indent="0">
              <a:buNone/>
            </a:pPr>
            <a:r>
              <a:rPr lang="en-US" sz="1600" b="1" dirty="0">
                <a:solidFill>
                  <a:srgbClr val="E60000"/>
                </a:solidFill>
                <a:latin typeface="Calibri" pitchFamily="34" charset="0"/>
                <a:ea typeface="Calibri" pitchFamily="34" charset="-122"/>
                <a:cs typeface="Calibri" pitchFamily="34" charset="-120"/>
              </a:rPr>
              <a:t>Operational Insights</a:t>
            </a:r>
            <a:endParaRPr lang="en-US" sz="1600" dirty="0"/>
          </a:p>
        </p:txBody>
      </p:sp>
      <p:pic>
        <p:nvPicPr>
          <p:cNvPr id="12" name="Image 2" descr="preencoded.png">
            <a:extLst>
              <a:ext uri="{FF2B5EF4-FFF2-40B4-BE49-F238E27FC236}">
                <a16:creationId xmlns:a16="http://schemas.microsoft.com/office/drawing/2014/main" id="{CE107F7C-5E0D-E7AF-6262-4A1725875D92}"/>
              </a:ext>
            </a:extLst>
          </p:cNvPr>
          <p:cNvPicPr>
            <a:picLocks noChangeAspect="1"/>
          </p:cNvPicPr>
          <p:nvPr/>
        </p:nvPicPr>
        <p:blipFill>
          <a:blip r:embed="rId5"/>
          <a:stretch>
            <a:fillRect/>
          </a:stretch>
        </p:blipFill>
        <p:spPr>
          <a:xfrm>
            <a:off x="251546" y="5238409"/>
            <a:ext cx="237744" cy="237744"/>
          </a:xfrm>
          <a:prstGeom prst="rect">
            <a:avLst/>
          </a:prstGeom>
        </p:spPr>
      </p:pic>
      <p:sp>
        <p:nvSpPr>
          <p:cNvPr id="13" name="Text 4">
            <a:extLst>
              <a:ext uri="{FF2B5EF4-FFF2-40B4-BE49-F238E27FC236}">
                <a16:creationId xmlns:a16="http://schemas.microsoft.com/office/drawing/2014/main" id="{8DB92EFE-0CC2-3016-A2B4-6B5C703DA63C}"/>
              </a:ext>
            </a:extLst>
          </p:cNvPr>
          <p:cNvSpPr/>
          <p:nvPr/>
        </p:nvSpPr>
        <p:spPr>
          <a:xfrm>
            <a:off x="617306" y="5210977"/>
            <a:ext cx="4114800" cy="201168"/>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Route complexity</a:t>
            </a:r>
            <a:endParaRPr lang="en-US" sz="1200" dirty="0"/>
          </a:p>
        </p:txBody>
      </p:sp>
      <p:sp>
        <p:nvSpPr>
          <p:cNvPr id="14" name="Text 5">
            <a:extLst>
              <a:ext uri="{FF2B5EF4-FFF2-40B4-BE49-F238E27FC236}">
                <a16:creationId xmlns:a16="http://schemas.microsoft.com/office/drawing/2014/main" id="{F3EA6CBF-6002-0286-20F1-0DFC28B86797}"/>
              </a:ext>
            </a:extLst>
          </p:cNvPr>
          <p:cNvSpPr/>
          <p:nvPr/>
        </p:nvSpPr>
        <p:spPr>
          <a:xfrm>
            <a:off x="617306" y="5421289"/>
            <a:ext cx="4754880" cy="274320"/>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Longest and most complex routes have the greatest impact on delivery delays</a:t>
            </a:r>
            <a:endParaRPr lang="en-US" sz="1050" dirty="0"/>
          </a:p>
        </p:txBody>
      </p:sp>
      <p:pic>
        <p:nvPicPr>
          <p:cNvPr id="15" name="Image 3" descr="preencoded.png">
            <a:extLst>
              <a:ext uri="{FF2B5EF4-FFF2-40B4-BE49-F238E27FC236}">
                <a16:creationId xmlns:a16="http://schemas.microsoft.com/office/drawing/2014/main" id="{2E0A081B-044C-3B20-4373-1742FF7D8297}"/>
              </a:ext>
            </a:extLst>
          </p:cNvPr>
          <p:cNvPicPr>
            <a:picLocks noChangeAspect="1"/>
          </p:cNvPicPr>
          <p:nvPr/>
        </p:nvPicPr>
        <p:blipFill>
          <a:blip r:embed="rId6"/>
          <a:stretch>
            <a:fillRect/>
          </a:stretch>
        </p:blipFill>
        <p:spPr>
          <a:xfrm>
            <a:off x="251546" y="5787049"/>
            <a:ext cx="237744" cy="237744"/>
          </a:xfrm>
          <a:prstGeom prst="rect">
            <a:avLst/>
          </a:prstGeom>
        </p:spPr>
      </p:pic>
      <p:sp>
        <p:nvSpPr>
          <p:cNvPr id="16" name="Text 6">
            <a:extLst>
              <a:ext uri="{FF2B5EF4-FFF2-40B4-BE49-F238E27FC236}">
                <a16:creationId xmlns:a16="http://schemas.microsoft.com/office/drawing/2014/main" id="{8813AB66-D33A-BFFA-FA39-2062844779CD}"/>
              </a:ext>
            </a:extLst>
          </p:cNvPr>
          <p:cNvSpPr/>
          <p:nvPr/>
        </p:nvSpPr>
        <p:spPr>
          <a:xfrm>
            <a:off x="617306" y="5759617"/>
            <a:ext cx="4114800" cy="201168"/>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Payload</a:t>
            </a:r>
            <a:endParaRPr lang="en-US" sz="1200" dirty="0"/>
          </a:p>
        </p:txBody>
      </p:sp>
      <p:sp>
        <p:nvSpPr>
          <p:cNvPr id="17" name="Text 7">
            <a:extLst>
              <a:ext uri="{FF2B5EF4-FFF2-40B4-BE49-F238E27FC236}">
                <a16:creationId xmlns:a16="http://schemas.microsoft.com/office/drawing/2014/main" id="{5F53372E-D449-C11A-BDAA-45F61E154394}"/>
              </a:ext>
            </a:extLst>
          </p:cNvPr>
          <p:cNvSpPr/>
          <p:nvPr/>
        </p:nvSpPr>
        <p:spPr>
          <a:xfrm>
            <a:off x="617306" y="5969929"/>
            <a:ext cx="4754880" cy="274320"/>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Heavier payloads reduce the probability of arriving on time</a:t>
            </a:r>
            <a:endParaRPr lang="en-US" sz="1050" dirty="0"/>
          </a:p>
        </p:txBody>
      </p:sp>
      <p:pic>
        <p:nvPicPr>
          <p:cNvPr id="18" name="Image 4" descr="preencoded.png">
            <a:extLst>
              <a:ext uri="{FF2B5EF4-FFF2-40B4-BE49-F238E27FC236}">
                <a16:creationId xmlns:a16="http://schemas.microsoft.com/office/drawing/2014/main" id="{1E418B3B-713B-5D53-3E56-010CF01451F1}"/>
              </a:ext>
            </a:extLst>
          </p:cNvPr>
          <p:cNvPicPr>
            <a:picLocks noChangeAspect="1"/>
          </p:cNvPicPr>
          <p:nvPr/>
        </p:nvPicPr>
        <p:blipFill>
          <a:blip r:embed="rId7"/>
          <a:stretch>
            <a:fillRect/>
          </a:stretch>
        </p:blipFill>
        <p:spPr>
          <a:xfrm>
            <a:off x="251546" y="6335689"/>
            <a:ext cx="237744" cy="237744"/>
          </a:xfrm>
          <a:prstGeom prst="rect">
            <a:avLst/>
          </a:prstGeom>
        </p:spPr>
      </p:pic>
      <p:sp>
        <p:nvSpPr>
          <p:cNvPr id="19" name="Text 8">
            <a:extLst>
              <a:ext uri="{FF2B5EF4-FFF2-40B4-BE49-F238E27FC236}">
                <a16:creationId xmlns:a16="http://schemas.microsoft.com/office/drawing/2014/main" id="{AEBC2041-4852-35AE-0775-C5C8E3B1684F}"/>
              </a:ext>
            </a:extLst>
          </p:cNvPr>
          <p:cNvSpPr/>
          <p:nvPr/>
        </p:nvSpPr>
        <p:spPr>
          <a:xfrm>
            <a:off x="617306" y="6308257"/>
            <a:ext cx="4114800" cy="201168"/>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Drone model</a:t>
            </a:r>
            <a:endParaRPr lang="en-US" sz="1200" dirty="0"/>
          </a:p>
        </p:txBody>
      </p:sp>
      <p:sp>
        <p:nvSpPr>
          <p:cNvPr id="20" name="Text 9">
            <a:extLst>
              <a:ext uri="{FF2B5EF4-FFF2-40B4-BE49-F238E27FC236}">
                <a16:creationId xmlns:a16="http://schemas.microsoft.com/office/drawing/2014/main" id="{76675523-C3AA-1045-6745-992CFA64D4D0}"/>
              </a:ext>
            </a:extLst>
          </p:cNvPr>
          <p:cNvSpPr/>
          <p:nvPr/>
        </p:nvSpPr>
        <p:spPr>
          <a:xfrm>
            <a:off x="617306" y="6518569"/>
            <a:ext cx="4754880" cy="274320"/>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Model B demonstrates the highest on-time performance</a:t>
            </a:r>
            <a:endParaRPr lang="en-US" sz="1050" dirty="0"/>
          </a:p>
        </p:txBody>
      </p:sp>
      <p:pic>
        <p:nvPicPr>
          <p:cNvPr id="21" name="Image 5" descr="preencoded.png">
            <a:extLst>
              <a:ext uri="{FF2B5EF4-FFF2-40B4-BE49-F238E27FC236}">
                <a16:creationId xmlns:a16="http://schemas.microsoft.com/office/drawing/2014/main" id="{6A18642E-4E7B-D943-0EA1-F919954BB47B}"/>
              </a:ext>
            </a:extLst>
          </p:cNvPr>
          <p:cNvPicPr>
            <a:picLocks noChangeAspect="1"/>
          </p:cNvPicPr>
          <p:nvPr/>
        </p:nvPicPr>
        <p:blipFill>
          <a:blip r:embed="rId8"/>
          <a:stretch>
            <a:fillRect/>
          </a:stretch>
        </p:blipFill>
        <p:spPr>
          <a:xfrm>
            <a:off x="5096140" y="5238409"/>
            <a:ext cx="237744" cy="237744"/>
          </a:xfrm>
          <a:prstGeom prst="rect">
            <a:avLst/>
          </a:prstGeom>
        </p:spPr>
      </p:pic>
      <p:sp>
        <p:nvSpPr>
          <p:cNvPr id="22" name="Text 10">
            <a:extLst>
              <a:ext uri="{FF2B5EF4-FFF2-40B4-BE49-F238E27FC236}">
                <a16:creationId xmlns:a16="http://schemas.microsoft.com/office/drawing/2014/main" id="{73A3F900-E742-A1A7-488F-F59E4111EAE6}"/>
              </a:ext>
            </a:extLst>
          </p:cNvPr>
          <p:cNvSpPr/>
          <p:nvPr/>
        </p:nvSpPr>
        <p:spPr>
          <a:xfrm>
            <a:off x="5461900" y="5210977"/>
            <a:ext cx="121805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Wind conditions</a:t>
            </a:r>
            <a:endParaRPr lang="en-US" sz="1200" dirty="0"/>
          </a:p>
        </p:txBody>
      </p:sp>
      <p:pic>
        <p:nvPicPr>
          <p:cNvPr id="24" name="Image 6" descr="preencoded.png">
            <a:extLst>
              <a:ext uri="{FF2B5EF4-FFF2-40B4-BE49-F238E27FC236}">
                <a16:creationId xmlns:a16="http://schemas.microsoft.com/office/drawing/2014/main" id="{6421F302-B6B2-535B-9E7B-BB71BFC3DC9F}"/>
              </a:ext>
            </a:extLst>
          </p:cNvPr>
          <p:cNvPicPr>
            <a:picLocks noChangeAspect="1"/>
          </p:cNvPicPr>
          <p:nvPr/>
        </p:nvPicPr>
        <p:blipFill>
          <a:blip r:embed="rId9"/>
          <a:stretch>
            <a:fillRect/>
          </a:stretch>
        </p:blipFill>
        <p:spPr>
          <a:xfrm>
            <a:off x="5096140" y="5787049"/>
            <a:ext cx="237744" cy="237744"/>
          </a:xfrm>
          <a:prstGeom prst="rect">
            <a:avLst/>
          </a:prstGeom>
        </p:spPr>
      </p:pic>
      <p:sp>
        <p:nvSpPr>
          <p:cNvPr id="25" name="Text 12">
            <a:extLst>
              <a:ext uri="{FF2B5EF4-FFF2-40B4-BE49-F238E27FC236}">
                <a16:creationId xmlns:a16="http://schemas.microsoft.com/office/drawing/2014/main" id="{D2A5E0E3-53FE-32C9-7764-3D1D1973B220}"/>
              </a:ext>
            </a:extLst>
          </p:cNvPr>
          <p:cNvSpPr/>
          <p:nvPr/>
        </p:nvSpPr>
        <p:spPr>
          <a:xfrm>
            <a:off x="5461900" y="5750467"/>
            <a:ext cx="1244047" cy="237744"/>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Operator strategy</a:t>
            </a:r>
            <a:endParaRPr lang="en-US" sz="1200" dirty="0"/>
          </a:p>
        </p:txBody>
      </p:sp>
      <p:sp>
        <p:nvSpPr>
          <p:cNvPr id="26" name="Text 13">
            <a:extLst>
              <a:ext uri="{FF2B5EF4-FFF2-40B4-BE49-F238E27FC236}">
                <a16:creationId xmlns:a16="http://schemas.microsoft.com/office/drawing/2014/main" id="{C6B24C5B-AE83-453B-950B-F3F9FE5B6143}"/>
              </a:ext>
            </a:extLst>
          </p:cNvPr>
          <p:cNvSpPr/>
          <p:nvPr/>
        </p:nvSpPr>
        <p:spPr>
          <a:xfrm>
            <a:off x="5461900" y="5969929"/>
            <a:ext cx="2693167" cy="274320"/>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Aggressive profiles achieved higher on-time rates</a:t>
            </a:r>
            <a:endParaRPr lang="en-US" sz="1050" dirty="0"/>
          </a:p>
        </p:txBody>
      </p:sp>
      <p:sp>
        <p:nvSpPr>
          <p:cNvPr id="29" name="Text 14">
            <a:extLst>
              <a:ext uri="{FF2B5EF4-FFF2-40B4-BE49-F238E27FC236}">
                <a16:creationId xmlns:a16="http://schemas.microsoft.com/office/drawing/2014/main" id="{5C18BBBB-3183-9D8A-FE98-00BED0EA9470}"/>
              </a:ext>
            </a:extLst>
          </p:cNvPr>
          <p:cNvSpPr/>
          <p:nvPr/>
        </p:nvSpPr>
        <p:spPr>
          <a:xfrm>
            <a:off x="8307467" y="4863505"/>
            <a:ext cx="3657600" cy="548640"/>
          </a:xfrm>
          <a:prstGeom prst="rect">
            <a:avLst/>
          </a:prstGeom>
          <a:noFill/>
          <a:ln/>
        </p:spPr>
        <p:txBody>
          <a:bodyPr wrap="square" lIns="0" tIns="0" rIns="0" bIns="0" rtlCol="0" anchor="ctr"/>
          <a:lstStyle/>
          <a:p>
            <a:pPr marL="0" indent="0">
              <a:buNone/>
            </a:pPr>
            <a:r>
              <a:rPr lang="en-US" sz="1200" i="1" dirty="0">
                <a:latin typeface="Calibri" pitchFamily="34" charset="0"/>
                <a:ea typeface="Calibri" pitchFamily="34" charset="-122"/>
                <a:cs typeface="Calibri" pitchFamily="34" charset="-120"/>
              </a:rPr>
              <a:t>Landing zones are included in the model for predictive accuracy but excluded from this chart. They represent location-specific effects, not general operational levers.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1A1A2E"/>
                </a:solidFill>
                <a:latin typeface="Calibri" pitchFamily="34" charset="0"/>
                <a:ea typeface="Calibri" pitchFamily="34" charset="-122"/>
                <a:cs typeface="Calibri" pitchFamily="34" charset="-120"/>
              </a:rPr>
              <a:t>Decision Support Framework</a:t>
            </a:r>
            <a:endParaRPr lang="en-US" sz="3600" dirty="0"/>
          </a:p>
        </p:txBody>
      </p:sp>
      <p:sp>
        <p:nvSpPr>
          <p:cNvPr id="3" name="Text 1"/>
          <p:cNvSpPr/>
          <p:nvPr/>
        </p:nvSpPr>
        <p:spPr>
          <a:xfrm>
            <a:off x="731520" y="914400"/>
            <a:ext cx="7315200" cy="320040"/>
          </a:xfrm>
          <a:prstGeom prst="rect">
            <a:avLst/>
          </a:prstGeom>
          <a:noFill/>
          <a:ln/>
        </p:spPr>
        <p:txBody>
          <a:bodyPr wrap="square" lIns="0" tIns="0" rIns="0" bIns="0"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Turning predictions into operational decisions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698480" cy="1783080"/>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6583680">
                  <a:extLst>
                    <a:ext uri="{9D8B030D-6E8A-4147-A177-3AD203B41FA5}">
                      <a16:colId xmlns:a16="http://schemas.microsoft.com/office/drawing/2014/main" val="20002"/>
                    </a:ext>
                  </a:extLst>
                </a:gridCol>
              </a:tblGrid>
              <a:tr h="41148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Predicted Probability</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1A1A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Risk Level</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1A1A2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Suggested Action</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1A1A2E"/>
                    </a:solidFill>
                  </a:tcPr>
                </a:tc>
                <a:extLst>
                  <a:ext uri="{0D108BD9-81ED-4DB2-BD59-A6C34878D82A}">
                    <a16:rowId xmlns:a16="http://schemas.microsoft.com/office/drawing/2014/main" val="10000"/>
                  </a:ext>
                </a:extLst>
              </a:tr>
              <a:tr h="457200">
                <a:tc>
                  <a:txBody>
                    <a:bodyPr/>
                    <a:lstStyle/>
                    <a:p>
                      <a:pPr marL="0" indent="0" algn="ctr">
                        <a:buNone/>
                      </a:pPr>
                      <a:r>
                        <a:rPr lang="en-US" sz="1400" b="1" dirty="0">
                          <a:solidFill>
                            <a:srgbClr val="28A745"/>
                          </a:solidFill>
                          <a:latin typeface="Calibri" pitchFamily="34" charset="0"/>
                          <a:ea typeface="Calibri" pitchFamily="34" charset="-122"/>
                          <a:cs typeface="Calibri" pitchFamily="34" charset="-120"/>
                        </a:rPr>
                        <a:t>&gt; 0.80</a:t>
                      </a:r>
                      <a:endParaRPr lang="en-US" sz="14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0FFF0"/>
                    </a:solidFill>
                  </a:tcPr>
                </a:tc>
                <a:tc>
                  <a:txBody>
                    <a:bodyPr/>
                    <a:lstStyle/>
                    <a:p>
                      <a:pPr marL="0" indent="0" algn="ctr">
                        <a:buNone/>
                      </a:pPr>
                      <a:r>
                        <a:rPr lang="en-US" sz="1300" dirty="0">
                          <a:solidFill>
                            <a:srgbClr val="28A745"/>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0FFF0"/>
                    </a:solidFill>
                  </a:tcPr>
                </a:tc>
                <a:tc>
                  <a:txBody>
                    <a:bodyPr/>
                    <a:lstStyle/>
                    <a:p>
                      <a:pPr marL="0" indent="0">
                        <a:buNone/>
                      </a:pPr>
                      <a:r>
                        <a:rPr lang="en-US" sz="1300" dirty="0">
                          <a:solidFill>
                            <a:srgbClr val="2D2D2D"/>
                          </a:solidFill>
                          <a:latin typeface="Calibri" pitchFamily="34" charset="0"/>
                          <a:ea typeface="Calibri" pitchFamily="34" charset="-122"/>
                          <a:cs typeface="Calibri" pitchFamily="34" charset="-120"/>
                        </a:rPr>
                        <a:t>Approve delivery normally</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0FFF0"/>
                    </a:solidFill>
                  </a:tcPr>
                </a:tc>
                <a:extLst>
                  <a:ext uri="{0D108BD9-81ED-4DB2-BD59-A6C34878D82A}">
                    <a16:rowId xmlns:a16="http://schemas.microsoft.com/office/drawing/2014/main" val="10001"/>
                  </a:ext>
                </a:extLst>
              </a:tr>
              <a:tr h="457200">
                <a:tc>
                  <a:txBody>
                    <a:bodyPr/>
                    <a:lstStyle/>
                    <a:p>
                      <a:pPr marL="0" indent="0" algn="ctr">
                        <a:buNone/>
                      </a:pPr>
                      <a:r>
                        <a:rPr lang="en-US" sz="1400" b="1" dirty="0">
                          <a:solidFill>
                            <a:srgbClr val="F5A623"/>
                          </a:solidFill>
                          <a:latin typeface="Calibri" pitchFamily="34" charset="0"/>
                          <a:ea typeface="Calibri" pitchFamily="34" charset="-122"/>
                          <a:cs typeface="Calibri" pitchFamily="34" charset="-120"/>
                        </a:rPr>
                        <a:t>0.50 – 0.80</a:t>
                      </a:r>
                      <a:endParaRPr lang="en-US" sz="14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BF0"/>
                    </a:solidFill>
                  </a:tcPr>
                </a:tc>
                <a:tc>
                  <a:txBody>
                    <a:bodyPr/>
                    <a:lstStyle/>
                    <a:p>
                      <a:pPr marL="0" indent="0" algn="ctr">
                        <a:buNone/>
                      </a:pPr>
                      <a:r>
                        <a:rPr lang="en-US" sz="1300" dirty="0">
                          <a:solidFill>
                            <a:srgbClr val="F5A623"/>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BF0"/>
                    </a:solidFill>
                  </a:tcPr>
                </a:tc>
                <a:tc>
                  <a:txBody>
                    <a:bodyPr/>
                    <a:lstStyle/>
                    <a:p>
                      <a:pPr marL="0" indent="0">
                        <a:buNone/>
                      </a:pPr>
                      <a:r>
                        <a:rPr lang="en-US" sz="1300" dirty="0">
                          <a:solidFill>
                            <a:srgbClr val="2D2D2D"/>
                          </a:solidFill>
                          <a:latin typeface="Calibri" pitchFamily="34" charset="0"/>
                          <a:ea typeface="Calibri" pitchFamily="34" charset="-122"/>
                          <a:cs typeface="Calibri" pitchFamily="34" charset="-120"/>
                        </a:rPr>
                        <a:t>Review operational risk factors before dispatch</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BF0"/>
                    </a:solidFill>
                  </a:tcPr>
                </a:tc>
                <a:extLst>
                  <a:ext uri="{0D108BD9-81ED-4DB2-BD59-A6C34878D82A}">
                    <a16:rowId xmlns:a16="http://schemas.microsoft.com/office/drawing/2014/main" val="10002"/>
                  </a:ext>
                </a:extLst>
              </a:tr>
              <a:tr h="457200">
                <a:tc>
                  <a:txBody>
                    <a:bodyPr/>
                    <a:lstStyle/>
                    <a:p>
                      <a:pPr marL="0" indent="0" algn="ctr">
                        <a:buNone/>
                      </a:pPr>
                      <a:r>
                        <a:rPr lang="en-US" sz="1400" b="1" dirty="0">
                          <a:solidFill>
                            <a:srgbClr val="E60000"/>
                          </a:solidFill>
                          <a:latin typeface="Calibri" pitchFamily="34" charset="0"/>
                          <a:ea typeface="Calibri" pitchFamily="34" charset="-122"/>
                          <a:cs typeface="Calibri" pitchFamily="34" charset="-120"/>
                        </a:rPr>
                        <a:t>&lt; 0.50</a:t>
                      </a:r>
                      <a:endParaRPr lang="en-US" sz="14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0F0"/>
                    </a:solidFill>
                  </a:tcPr>
                </a:tc>
                <a:tc>
                  <a:txBody>
                    <a:bodyPr/>
                    <a:lstStyle/>
                    <a:p>
                      <a:pPr marL="0" indent="0" algn="ctr">
                        <a:buNone/>
                      </a:pPr>
                      <a:r>
                        <a:rPr lang="en-US" sz="1300" dirty="0">
                          <a:solidFill>
                            <a:srgbClr val="E60000"/>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0F0"/>
                    </a:solidFill>
                  </a:tcPr>
                </a:tc>
                <a:tc>
                  <a:txBody>
                    <a:bodyPr/>
                    <a:lstStyle/>
                    <a:p>
                      <a:pPr marL="0" indent="0">
                        <a:buNone/>
                      </a:pPr>
                      <a:r>
                        <a:rPr lang="en-US" sz="1300" dirty="0">
                          <a:solidFill>
                            <a:srgbClr val="2D2D2D"/>
                          </a:solidFill>
                          <a:latin typeface="Calibri" pitchFamily="34" charset="0"/>
                          <a:ea typeface="Calibri" pitchFamily="34" charset="-122"/>
                          <a:cs typeface="Calibri" pitchFamily="34" charset="-120"/>
                        </a:rPr>
                        <a:t>Consider alternative route, drone, timing, or delivery method</a:t>
                      </a:r>
                      <a:endParaRPr lang="en-US" sz="1300" dirty="0">
                        <a:latin typeface="Calibri" charset="0"/>
                        <a:ea typeface="Calibri" charset="0"/>
                        <a:cs typeface="Calibri" charset="0"/>
                      </a:endParaRPr>
                    </a:p>
                  </a:txBody>
                  <a:tcP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FFF0F0"/>
                    </a:solidFill>
                  </a:tcPr>
                </a:tc>
                <a:extLst>
                  <a:ext uri="{0D108BD9-81ED-4DB2-BD59-A6C34878D82A}">
                    <a16:rowId xmlns:a16="http://schemas.microsoft.com/office/drawing/2014/main" val="10003"/>
                  </a:ext>
                </a:extLst>
              </a:tr>
            </a:tbl>
          </a:graphicData>
        </a:graphic>
      </p:graphicFrame>
      <p:sp>
        <p:nvSpPr>
          <p:cNvPr id="5" name="Text 2"/>
          <p:cNvSpPr/>
          <p:nvPr/>
        </p:nvSpPr>
        <p:spPr>
          <a:xfrm>
            <a:off x="731520" y="3840480"/>
            <a:ext cx="4572000" cy="365760"/>
          </a:xfrm>
          <a:prstGeom prst="rect">
            <a:avLst/>
          </a:prstGeom>
          <a:noFill/>
          <a:ln/>
        </p:spPr>
        <p:txBody>
          <a:bodyPr wrap="square" lIns="0" tIns="0" rIns="0" bIns="0"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Operational Benefits</a:t>
            </a:r>
            <a:endParaRPr lang="en-US" sz="1600" dirty="0"/>
          </a:p>
        </p:txBody>
      </p:sp>
      <p:pic>
        <p:nvPicPr>
          <p:cNvPr id="6" name="Image 0" descr="preencoded.png"/>
          <p:cNvPicPr>
            <a:picLocks noChangeAspect="1"/>
          </p:cNvPicPr>
          <p:nvPr/>
        </p:nvPicPr>
        <p:blipFill>
          <a:blip r:embed="rId3"/>
          <a:stretch>
            <a:fillRect/>
          </a:stretch>
        </p:blipFill>
        <p:spPr>
          <a:xfrm>
            <a:off x="731520" y="4343400"/>
            <a:ext cx="256032" cy="256032"/>
          </a:xfrm>
          <a:prstGeom prst="rect">
            <a:avLst/>
          </a:prstGeom>
        </p:spPr>
      </p:pic>
      <p:sp>
        <p:nvSpPr>
          <p:cNvPr id="7" name="Text 3"/>
          <p:cNvSpPr/>
          <p:nvPr/>
        </p:nvSpPr>
        <p:spPr>
          <a:xfrm>
            <a:off x="1143000" y="4325112"/>
            <a:ext cx="4389120" cy="292608"/>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Predict high-risk deliveries before dispatch</a:t>
            </a:r>
            <a:endParaRPr lang="en-US" sz="1250" dirty="0"/>
          </a:p>
        </p:txBody>
      </p:sp>
      <p:pic>
        <p:nvPicPr>
          <p:cNvPr id="8" name="Image 1" descr="preencoded.png"/>
          <p:cNvPicPr>
            <a:picLocks noChangeAspect="1"/>
          </p:cNvPicPr>
          <p:nvPr/>
        </p:nvPicPr>
        <p:blipFill>
          <a:blip r:embed="rId4"/>
          <a:stretch>
            <a:fillRect/>
          </a:stretch>
        </p:blipFill>
        <p:spPr>
          <a:xfrm>
            <a:off x="731520" y="4782312"/>
            <a:ext cx="256032" cy="256032"/>
          </a:xfrm>
          <a:prstGeom prst="rect">
            <a:avLst/>
          </a:prstGeom>
        </p:spPr>
      </p:pic>
      <p:sp>
        <p:nvSpPr>
          <p:cNvPr id="9" name="Text 4"/>
          <p:cNvSpPr/>
          <p:nvPr/>
        </p:nvSpPr>
        <p:spPr>
          <a:xfrm>
            <a:off x="1143000" y="4764024"/>
            <a:ext cx="4389120" cy="292608"/>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Support dispatcher decision-making with data-driven risk estimates</a:t>
            </a:r>
            <a:endParaRPr lang="en-US" sz="1250" dirty="0"/>
          </a:p>
        </p:txBody>
      </p:sp>
      <p:pic>
        <p:nvPicPr>
          <p:cNvPr id="10" name="Image 2" descr="preencoded.png"/>
          <p:cNvPicPr>
            <a:picLocks noChangeAspect="1"/>
          </p:cNvPicPr>
          <p:nvPr/>
        </p:nvPicPr>
        <p:blipFill>
          <a:blip r:embed="rId5"/>
          <a:stretch>
            <a:fillRect/>
          </a:stretch>
        </p:blipFill>
        <p:spPr>
          <a:xfrm>
            <a:off x="731520" y="5221224"/>
            <a:ext cx="256032" cy="256032"/>
          </a:xfrm>
          <a:prstGeom prst="rect">
            <a:avLst/>
          </a:prstGeom>
        </p:spPr>
      </p:pic>
      <p:sp>
        <p:nvSpPr>
          <p:cNvPr id="11" name="Text 5"/>
          <p:cNvSpPr/>
          <p:nvPr/>
        </p:nvSpPr>
        <p:spPr>
          <a:xfrm>
            <a:off x="1143000" y="5202936"/>
            <a:ext cx="4389120" cy="292608"/>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Improve route planning and drone allocation</a:t>
            </a:r>
            <a:endParaRPr lang="en-US" sz="1250" dirty="0"/>
          </a:p>
        </p:txBody>
      </p:sp>
      <p:pic>
        <p:nvPicPr>
          <p:cNvPr id="4" name="Image 3" descr="preencoded.png"/>
          <p:cNvPicPr>
            <a:picLocks noChangeAspect="1"/>
          </p:cNvPicPr>
          <p:nvPr/>
        </p:nvPicPr>
        <p:blipFill>
          <a:blip r:embed="rId6"/>
          <a:stretch>
            <a:fillRect/>
          </a:stretch>
        </p:blipFill>
        <p:spPr>
          <a:xfrm>
            <a:off x="731520" y="5660136"/>
            <a:ext cx="256032" cy="256032"/>
          </a:xfrm>
          <a:prstGeom prst="rect">
            <a:avLst/>
          </a:prstGeom>
        </p:spPr>
      </p:pic>
      <p:sp>
        <p:nvSpPr>
          <p:cNvPr id="13" name="Text 6"/>
          <p:cNvSpPr/>
          <p:nvPr/>
        </p:nvSpPr>
        <p:spPr>
          <a:xfrm>
            <a:off x="1143000" y="5641848"/>
            <a:ext cx="4389120" cy="292608"/>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Reduce delays and improve customer satisfaction</a:t>
            </a:r>
            <a:endParaRPr lang="en-US" sz="1250" dirty="0"/>
          </a:p>
        </p:txBody>
      </p:sp>
      <p:sp>
        <p:nvSpPr>
          <p:cNvPr id="14" name="Text 7"/>
          <p:cNvSpPr/>
          <p:nvPr/>
        </p:nvSpPr>
        <p:spPr>
          <a:xfrm>
            <a:off x="731520" y="5989320"/>
            <a:ext cx="5029200" cy="502920"/>
          </a:xfrm>
          <a:prstGeom prst="rect">
            <a:avLst/>
          </a:prstGeom>
          <a:noFill/>
          <a:ln/>
        </p:spPr>
        <p:txBody>
          <a:bodyPr wrap="square" lIns="0" tIns="0" rIns="0" bIns="0" rtlCol="0" anchor="ctr"/>
          <a:lstStyle/>
          <a:p>
            <a:pPr marL="0" indent="0">
              <a:buNone/>
            </a:pPr>
            <a:r>
              <a:rPr lang="en-US" sz="1100" i="1" dirty="0">
                <a:solidFill>
                  <a:srgbClr val="E60000"/>
                </a:solidFill>
                <a:latin typeface="Calibri" pitchFamily="34" charset="0"/>
                <a:ea typeface="Calibri" pitchFamily="34" charset="-122"/>
                <a:cs typeface="Calibri" pitchFamily="34" charset="-120"/>
              </a:rPr>
              <a:t>The model is intended to support (not replace) human dispatchers by providing an additional data-driven estimate of delivery risk.</a:t>
            </a:r>
            <a:endParaRPr lang="en-US" sz="1100" dirty="0"/>
          </a:p>
        </p:txBody>
      </p:sp>
      <p:sp>
        <p:nvSpPr>
          <p:cNvPr id="15" name="Shape 8"/>
          <p:cNvSpPr/>
          <p:nvPr/>
        </p:nvSpPr>
        <p:spPr>
          <a:xfrm>
            <a:off x="6400800" y="3840480"/>
            <a:ext cx="5029200" cy="2468880"/>
          </a:xfrm>
          <a:prstGeom prst="roundRect">
            <a:avLst>
              <a:gd name="adj" fmla="val 3704"/>
            </a:avLst>
          </a:prstGeom>
          <a:solidFill>
            <a:srgbClr val="1A1A2E"/>
          </a:solidFill>
          <a:ln/>
        </p:spPr>
      </p:sp>
      <p:sp>
        <p:nvSpPr>
          <p:cNvPr id="16" name="Text 9"/>
          <p:cNvSpPr/>
          <p:nvPr/>
        </p:nvSpPr>
        <p:spPr>
          <a:xfrm>
            <a:off x="6675120" y="3977640"/>
            <a:ext cx="4480560" cy="365760"/>
          </a:xfrm>
          <a:prstGeom prst="rect">
            <a:avLst/>
          </a:prstGeom>
          <a:noFill/>
          <a:ln/>
        </p:spPr>
        <p:txBody>
          <a:bodyPr wrap="square" lIns="0" tIns="0" rIns="0" bIns="0" rtlCol="0" anchor="ctr"/>
          <a:lstStyle/>
          <a:p>
            <a:pPr marL="0" indent="0">
              <a:buNone/>
            </a:pPr>
            <a:r>
              <a:rPr lang="en-US" sz="1500" b="1" dirty="0">
                <a:solidFill>
                  <a:srgbClr val="E60000"/>
                </a:solidFill>
                <a:latin typeface="Calibri" pitchFamily="34" charset="0"/>
                <a:ea typeface="Calibri" pitchFamily="34" charset="-122"/>
                <a:cs typeface="Calibri" pitchFamily="34" charset="-120"/>
              </a:rPr>
              <a:t>Healthcare Application Example</a:t>
            </a:r>
            <a:endParaRPr lang="en-US" sz="1500" dirty="0"/>
          </a:p>
        </p:txBody>
      </p:sp>
      <p:sp>
        <p:nvSpPr>
          <p:cNvPr id="18" name="Shape 11"/>
          <p:cNvSpPr/>
          <p:nvPr/>
        </p:nvSpPr>
        <p:spPr>
          <a:xfrm>
            <a:off x="6659880" y="4521708"/>
            <a:ext cx="237744" cy="237744"/>
          </a:xfrm>
          <a:prstGeom prst="ellipse">
            <a:avLst/>
          </a:prstGeom>
          <a:solidFill>
            <a:srgbClr val="E60000"/>
          </a:solidFill>
          <a:ln/>
        </p:spPr>
      </p:sp>
      <p:pic>
        <p:nvPicPr>
          <p:cNvPr id="19" name="Image 4" descr="preencoded.png"/>
          <p:cNvPicPr>
            <a:picLocks noChangeAspect="1"/>
          </p:cNvPicPr>
          <p:nvPr/>
        </p:nvPicPr>
        <p:blipFill>
          <a:blip r:embed="rId7"/>
          <a:stretch>
            <a:fillRect/>
          </a:stretch>
        </p:blipFill>
        <p:spPr>
          <a:xfrm>
            <a:off x="6683654" y="4545482"/>
            <a:ext cx="190195" cy="190195"/>
          </a:xfrm>
          <a:prstGeom prst="rect">
            <a:avLst/>
          </a:prstGeom>
        </p:spPr>
      </p:pic>
      <p:sp>
        <p:nvSpPr>
          <p:cNvPr id="20" name="Text 12"/>
          <p:cNvSpPr/>
          <p:nvPr/>
        </p:nvSpPr>
        <p:spPr>
          <a:xfrm>
            <a:off x="7025640" y="4503420"/>
            <a:ext cx="402336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Insulin delivery to remote clinics (temperature-sensitive)</a:t>
            </a:r>
            <a:endParaRPr lang="en-US" sz="1100" dirty="0"/>
          </a:p>
        </p:txBody>
      </p:sp>
      <p:sp>
        <p:nvSpPr>
          <p:cNvPr id="21" name="Shape 13"/>
          <p:cNvSpPr/>
          <p:nvPr/>
        </p:nvSpPr>
        <p:spPr>
          <a:xfrm>
            <a:off x="6659880" y="4887468"/>
            <a:ext cx="237744" cy="237744"/>
          </a:xfrm>
          <a:prstGeom prst="ellipse">
            <a:avLst/>
          </a:prstGeom>
          <a:solidFill>
            <a:srgbClr val="E60000"/>
          </a:solidFill>
          <a:ln/>
        </p:spPr>
      </p:sp>
      <p:pic>
        <p:nvPicPr>
          <p:cNvPr id="22" name="Image 5" descr="preencoded.png"/>
          <p:cNvPicPr>
            <a:picLocks noChangeAspect="1"/>
          </p:cNvPicPr>
          <p:nvPr/>
        </p:nvPicPr>
        <p:blipFill>
          <a:blip r:embed="rId7"/>
          <a:stretch>
            <a:fillRect/>
          </a:stretch>
        </p:blipFill>
        <p:spPr>
          <a:xfrm>
            <a:off x="6683654" y="4911242"/>
            <a:ext cx="190195" cy="190195"/>
          </a:xfrm>
          <a:prstGeom prst="rect">
            <a:avLst/>
          </a:prstGeom>
        </p:spPr>
      </p:pic>
      <p:sp>
        <p:nvSpPr>
          <p:cNvPr id="23" name="Text 14"/>
          <p:cNvSpPr/>
          <p:nvPr/>
        </p:nvSpPr>
        <p:spPr>
          <a:xfrm>
            <a:off x="7025640" y="4869180"/>
            <a:ext cx="402336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Blood sample transport (30-minute transfusion window)</a:t>
            </a:r>
            <a:endParaRPr lang="en-US" sz="1100" dirty="0"/>
          </a:p>
        </p:txBody>
      </p:sp>
      <p:sp>
        <p:nvSpPr>
          <p:cNvPr id="24" name="Shape 15"/>
          <p:cNvSpPr/>
          <p:nvPr/>
        </p:nvSpPr>
        <p:spPr>
          <a:xfrm>
            <a:off x="6659880" y="5253228"/>
            <a:ext cx="237744" cy="237744"/>
          </a:xfrm>
          <a:prstGeom prst="ellipse">
            <a:avLst/>
          </a:prstGeom>
          <a:solidFill>
            <a:srgbClr val="E60000"/>
          </a:solidFill>
          <a:ln/>
        </p:spPr>
      </p:sp>
      <p:pic>
        <p:nvPicPr>
          <p:cNvPr id="25" name="Image 6" descr="preencoded.png"/>
          <p:cNvPicPr>
            <a:picLocks noChangeAspect="1"/>
          </p:cNvPicPr>
          <p:nvPr/>
        </p:nvPicPr>
        <p:blipFill>
          <a:blip r:embed="rId7"/>
          <a:stretch>
            <a:fillRect/>
          </a:stretch>
        </p:blipFill>
        <p:spPr>
          <a:xfrm>
            <a:off x="6683654" y="5277002"/>
            <a:ext cx="190195" cy="190195"/>
          </a:xfrm>
          <a:prstGeom prst="rect">
            <a:avLst/>
          </a:prstGeom>
        </p:spPr>
      </p:pic>
      <p:sp>
        <p:nvSpPr>
          <p:cNvPr id="26" name="Text 16"/>
          <p:cNvSpPr/>
          <p:nvPr/>
        </p:nvSpPr>
        <p:spPr>
          <a:xfrm>
            <a:off x="7025640" y="5234940"/>
            <a:ext cx="402336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Emergency medical supply distribution</a:t>
            </a:r>
            <a:endParaRPr lang="en-US" sz="1100" dirty="0"/>
          </a:p>
        </p:txBody>
      </p:sp>
      <p:sp>
        <p:nvSpPr>
          <p:cNvPr id="27" name="Shape 17"/>
          <p:cNvSpPr/>
          <p:nvPr/>
        </p:nvSpPr>
        <p:spPr>
          <a:xfrm>
            <a:off x="6659880" y="5618988"/>
            <a:ext cx="237744" cy="237744"/>
          </a:xfrm>
          <a:prstGeom prst="ellipse">
            <a:avLst/>
          </a:prstGeom>
          <a:solidFill>
            <a:srgbClr val="E60000"/>
          </a:solidFill>
          <a:ln/>
        </p:spPr>
      </p:sp>
      <p:pic>
        <p:nvPicPr>
          <p:cNvPr id="28" name="Image 7" descr="preencoded.png"/>
          <p:cNvPicPr>
            <a:picLocks noChangeAspect="1"/>
          </p:cNvPicPr>
          <p:nvPr/>
        </p:nvPicPr>
        <p:blipFill>
          <a:blip r:embed="rId7"/>
          <a:stretch>
            <a:fillRect/>
          </a:stretch>
        </p:blipFill>
        <p:spPr>
          <a:xfrm>
            <a:off x="6683654" y="5642762"/>
            <a:ext cx="190195" cy="190195"/>
          </a:xfrm>
          <a:prstGeom prst="rect">
            <a:avLst/>
          </a:prstGeom>
        </p:spPr>
      </p:pic>
      <p:sp>
        <p:nvSpPr>
          <p:cNvPr id="29" name="Text 18"/>
          <p:cNvSpPr/>
          <p:nvPr/>
        </p:nvSpPr>
        <p:spPr>
          <a:xfrm>
            <a:off x="7025640" y="5600700"/>
            <a:ext cx="402336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Vaccine distribution across rural areas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E60000"/>
          </a:solidFill>
          <a:ln/>
        </p:spPr>
      </p:sp>
      <p:sp>
        <p:nvSpPr>
          <p:cNvPr id="3" name="Text 1"/>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Conclusions &amp; Future Work</a:t>
            </a:r>
            <a:endParaRPr lang="en-US" sz="3600" dirty="0"/>
          </a:p>
        </p:txBody>
      </p:sp>
      <p:sp>
        <p:nvSpPr>
          <p:cNvPr id="4" name="Text 2"/>
          <p:cNvSpPr/>
          <p:nvPr/>
        </p:nvSpPr>
        <p:spPr>
          <a:xfrm>
            <a:off x="731520" y="1280160"/>
            <a:ext cx="4572000" cy="365760"/>
          </a:xfrm>
          <a:prstGeom prst="rect">
            <a:avLst/>
          </a:prstGeom>
          <a:noFill/>
          <a:ln/>
        </p:spPr>
        <p:txBody>
          <a:bodyPr wrap="square" lIns="0" tIns="0" rIns="0" bIns="0" rtlCol="0" anchor="ctr"/>
          <a:lstStyle/>
          <a:p>
            <a:pPr marL="0" indent="0">
              <a:buNone/>
            </a:pPr>
            <a:r>
              <a:rPr lang="en-US" sz="1800" b="1" dirty="0">
                <a:solidFill>
                  <a:srgbClr val="E60000"/>
                </a:solidFill>
                <a:latin typeface="Calibri" pitchFamily="34" charset="0"/>
                <a:ea typeface="Calibri" pitchFamily="34" charset="-122"/>
                <a:cs typeface="Calibri" pitchFamily="34" charset="-120"/>
              </a:rPr>
              <a:t>Key Achievements</a:t>
            </a:r>
            <a:endParaRPr lang="en-US" sz="1800" dirty="0"/>
          </a:p>
        </p:txBody>
      </p:sp>
      <p:sp>
        <p:nvSpPr>
          <p:cNvPr id="5" name="Text 3"/>
          <p:cNvSpPr/>
          <p:nvPr/>
        </p:nvSpPr>
        <p:spPr>
          <a:xfrm>
            <a:off x="731520" y="1783080"/>
            <a:ext cx="27432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Technical</a:t>
            </a:r>
            <a:endParaRPr lang="en-US" sz="1400" dirty="0"/>
          </a:p>
        </p:txBody>
      </p:sp>
      <p:sp>
        <p:nvSpPr>
          <p:cNvPr id="6" name="Shape 4"/>
          <p:cNvSpPr/>
          <p:nvPr/>
        </p:nvSpPr>
        <p:spPr>
          <a:xfrm>
            <a:off x="731520" y="2148840"/>
            <a:ext cx="237744" cy="237744"/>
          </a:xfrm>
          <a:prstGeom prst="ellipse">
            <a:avLst/>
          </a:prstGeom>
          <a:solidFill>
            <a:srgbClr val="28A745"/>
          </a:solidFill>
          <a:ln/>
        </p:spPr>
      </p:sp>
      <p:pic>
        <p:nvPicPr>
          <p:cNvPr id="7" name="Image 0" descr="preencoded.png"/>
          <p:cNvPicPr>
            <a:picLocks noChangeAspect="1"/>
          </p:cNvPicPr>
          <p:nvPr/>
        </p:nvPicPr>
        <p:blipFill>
          <a:blip r:embed="rId3"/>
          <a:stretch>
            <a:fillRect/>
          </a:stretch>
        </p:blipFill>
        <p:spPr>
          <a:xfrm>
            <a:off x="755294" y="2172614"/>
            <a:ext cx="190195" cy="190195"/>
          </a:xfrm>
          <a:prstGeom prst="rect">
            <a:avLst/>
          </a:prstGeom>
        </p:spPr>
      </p:pic>
      <p:sp>
        <p:nvSpPr>
          <p:cNvPr id="8" name="Text 5"/>
          <p:cNvSpPr/>
          <p:nvPr/>
        </p:nvSpPr>
        <p:spPr>
          <a:xfrm>
            <a:off x="1097280" y="2130552"/>
            <a:ext cx="45720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End-to-end ML pipeline with reusable src/ package</a:t>
            </a:r>
            <a:endParaRPr lang="en-US" sz="1200" dirty="0"/>
          </a:p>
        </p:txBody>
      </p:sp>
      <p:sp>
        <p:nvSpPr>
          <p:cNvPr id="9" name="Shape 6"/>
          <p:cNvSpPr/>
          <p:nvPr/>
        </p:nvSpPr>
        <p:spPr>
          <a:xfrm>
            <a:off x="731520" y="2514600"/>
            <a:ext cx="237744" cy="237744"/>
          </a:xfrm>
          <a:prstGeom prst="ellipse">
            <a:avLst/>
          </a:prstGeom>
          <a:solidFill>
            <a:srgbClr val="28A745"/>
          </a:solidFill>
          <a:ln/>
        </p:spPr>
      </p:sp>
      <p:pic>
        <p:nvPicPr>
          <p:cNvPr id="10" name="Image 1" descr="preencoded.png"/>
          <p:cNvPicPr>
            <a:picLocks noChangeAspect="1"/>
          </p:cNvPicPr>
          <p:nvPr/>
        </p:nvPicPr>
        <p:blipFill>
          <a:blip r:embed="rId3"/>
          <a:stretch>
            <a:fillRect/>
          </a:stretch>
        </p:blipFill>
        <p:spPr>
          <a:xfrm>
            <a:off x="755294" y="2538374"/>
            <a:ext cx="190195" cy="190195"/>
          </a:xfrm>
          <a:prstGeom prst="rect">
            <a:avLst/>
          </a:prstGeom>
        </p:spPr>
      </p:pic>
      <p:sp>
        <p:nvSpPr>
          <p:cNvPr id="11" name="Text 7"/>
          <p:cNvSpPr/>
          <p:nvPr/>
        </p:nvSpPr>
        <p:spPr>
          <a:xfrm>
            <a:off x="1097280" y="2496312"/>
            <a:ext cx="45720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Explainable Logistic Regression with odds ratios</a:t>
            </a:r>
            <a:endParaRPr lang="en-US" sz="1200" dirty="0"/>
          </a:p>
        </p:txBody>
      </p:sp>
      <p:sp>
        <p:nvSpPr>
          <p:cNvPr id="12" name="Shape 8"/>
          <p:cNvSpPr/>
          <p:nvPr/>
        </p:nvSpPr>
        <p:spPr>
          <a:xfrm>
            <a:off x="731520" y="2880360"/>
            <a:ext cx="237744" cy="237744"/>
          </a:xfrm>
          <a:prstGeom prst="ellipse">
            <a:avLst/>
          </a:prstGeom>
          <a:solidFill>
            <a:srgbClr val="28A745"/>
          </a:solidFill>
          <a:ln/>
        </p:spPr>
      </p:sp>
      <p:pic>
        <p:nvPicPr>
          <p:cNvPr id="13" name="Image 2" descr="preencoded.png"/>
          <p:cNvPicPr>
            <a:picLocks noChangeAspect="1"/>
          </p:cNvPicPr>
          <p:nvPr/>
        </p:nvPicPr>
        <p:blipFill>
          <a:blip r:embed="rId3"/>
          <a:stretch>
            <a:fillRect/>
          </a:stretch>
        </p:blipFill>
        <p:spPr>
          <a:xfrm>
            <a:off x="755294" y="2904134"/>
            <a:ext cx="190195" cy="190195"/>
          </a:xfrm>
          <a:prstGeom prst="rect">
            <a:avLst/>
          </a:prstGeom>
        </p:spPr>
      </p:pic>
      <p:sp>
        <p:nvSpPr>
          <p:cNvPr id="14" name="Text 9"/>
          <p:cNvSpPr/>
          <p:nvPr/>
        </p:nvSpPr>
        <p:spPr>
          <a:xfrm>
            <a:off x="1097280" y="2862072"/>
            <a:ext cx="45720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Robust bootstrap validation (1,000 resamples)</a:t>
            </a:r>
            <a:endParaRPr lang="en-US" sz="1200" dirty="0"/>
          </a:p>
        </p:txBody>
      </p:sp>
      <p:sp>
        <p:nvSpPr>
          <p:cNvPr id="15" name="Shape 10"/>
          <p:cNvSpPr/>
          <p:nvPr/>
        </p:nvSpPr>
        <p:spPr>
          <a:xfrm>
            <a:off x="731520" y="3246120"/>
            <a:ext cx="237744" cy="237744"/>
          </a:xfrm>
          <a:prstGeom prst="ellipse">
            <a:avLst/>
          </a:prstGeom>
          <a:solidFill>
            <a:srgbClr val="28A745"/>
          </a:solidFill>
          <a:ln/>
        </p:spPr>
      </p:sp>
      <p:pic>
        <p:nvPicPr>
          <p:cNvPr id="16" name="Image 3" descr="preencoded.png"/>
          <p:cNvPicPr>
            <a:picLocks noChangeAspect="1"/>
          </p:cNvPicPr>
          <p:nvPr/>
        </p:nvPicPr>
        <p:blipFill>
          <a:blip r:embed="rId3"/>
          <a:stretch>
            <a:fillRect/>
          </a:stretch>
        </p:blipFill>
        <p:spPr>
          <a:xfrm>
            <a:off x="755294" y="3269894"/>
            <a:ext cx="190195" cy="190195"/>
          </a:xfrm>
          <a:prstGeom prst="rect">
            <a:avLst/>
          </a:prstGeom>
        </p:spPr>
      </p:pic>
      <p:sp>
        <p:nvSpPr>
          <p:cNvPr id="17" name="Text 11"/>
          <p:cNvSpPr/>
          <p:nvPr/>
        </p:nvSpPr>
        <p:spPr>
          <a:xfrm>
            <a:off x="1097280" y="3227832"/>
            <a:ext cx="45720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Production-ready, reproducible pipeline</a:t>
            </a:r>
            <a:endParaRPr lang="en-US" sz="1200" dirty="0"/>
          </a:p>
        </p:txBody>
      </p:sp>
      <p:sp>
        <p:nvSpPr>
          <p:cNvPr id="18" name="Text 12"/>
          <p:cNvSpPr/>
          <p:nvPr/>
        </p:nvSpPr>
        <p:spPr>
          <a:xfrm>
            <a:off x="697209" y="3730752"/>
            <a:ext cx="27432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Business</a:t>
            </a:r>
            <a:endParaRPr lang="en-US" sz="1400" dirty="0"/>
          </a:p>
        </p:txBody>
      </p:sp>
      <p:sp>
        <p:nvSpPr>
          <p:cNvPr id="19" name="Shape 13"/>
          <p:cNvSpPr/>
          <p:nvPr/>
        </p:nvSpPr>
        <p:spPr>
          <a:xfrm>
            <a:off x="697209" y="4096512"/>
            <a:ext cx="237744" cy="237744"/>
          </a:xfrm>
          <a:prstGeom prst="ellipse">
            <a:avLst/>
          </a:prstGeom>
          <a:solidFill>
            <a:srgbClr val="28A745"/>
          </a:solidFill>
          <a:ln/>
        </p:spPr>
      </p:sp>
      <p:pic>
        <p:nvPicPr>
          <p:cNvPr id="20" name="Image 4" descr="preencoded.png"/>
          <p:cNvPicPr>
            <a:picLocks noChangeAspect="1"/>
          </p:cNvPicPr>
          <p:nvPr/>
        </p:nvPicPr>
        <p:blipFill>
          <a:blip r:embed="rId3"/>
          <a:stretch>
            <a:fillRect/>
          </a:stretch>
        </p:blipFill>
        <p:spPr>
          <a:xfrm>
            <a:off x="720983" y="4120286"/>
            <a:ext cx="190195" cy="190195"/>
          </a:xfrm>
          <a:prstGeom prst="rect">
            <a:avLst/>
          </a:prstGeom>
        </p:spPr>
      </p:pic>
      <p:sp>
        <p:nvSpPr>
          <p:cNvPr id="21" name="Text 14"/>
          <p:cNvSpPr/>
          <p:nvPr/>
        </p:nvSpPr>
        <p:spPr>
          <a:xfrm>
            <a:off x="1062969" y="4078224"/>
            <a:ext cx="45720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Predicts delivery success before dispatch</a:t>
            </a:r>
            <a:endParaRPr lang="en-US" sz="1200" dirty="0"/>
          </a:p>
        </p:txBody>
      </p:sp>
      <p:sp>
        <p:nvSpPr>
          <p:cNvPr id="22" name="Shape 15"/>
          <p:cNvSpPr/>
          <p:nvPr/>
        </p:nvSpPr>
        <p:spPr>
          <a:xfrm>
            <a:off x="697209" y="4462272"/>
            <a:ext cx="237744" cy="237744"/>
          </a:xfrm>
          <a:prstGeom prst="ellipse">
            <a:avLst/>
          </a:prstGeom>
          <a:solidFill>
            <a:srgbClr val="28A745"/>
          </a:solidFill>
          <a:ln/>
        </p:spPr>
      </p:sp>
      <p:pic>
        <p:nvPicPr>
          <p:cNvPr id="23" name="Image 5" descr="preencoded.png"/>
          <p:cNvPicPr>
            <a:picLocks noChangeAspect="1"/>
          </p:cNvPicPr>
          <p:nvPr/>
        </p:nvPicPr>
        <p:blipFill>
          <a:blip r:embed="rId3"/>
          <a:stretch>
            <a:fillRect/>
          </a:stretch>
        </p:blipFill>
        <p:spPr>
          <a:xfrm>
            <a:off x="720983" y="4486046"/>
            <a:ext cx="190195" cy="190195"/>
          </a:xfrm>
          <a:prstGeom prst="rect">
            <a:avLst/>
          </a:prstGeom>
        </p:spPr>
      </p:pic>
      <p:sp>
        <p:nvSpPr>
          <p:cNvPr id="24" name="Text 16"/>
          <p:cNvSpPr/>
          <p:nvPr/>
        </p:nvSpPr>
        <p:spPr>
          <a:xfrm>
            <a:off x="1062969" y="4443984"/>
            <a:ext cx="45720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Supports operational decision-making</a:t>
            </a:r>
            <a:endParaRPr lang="en-US" sz="1200" dirty="0"/>
          </a:p>
        </p:txBody>
      </p:sp>
      <p:sp>
        <p:nvSpPr>
          <p:cNvPr id="25" name="Shape 17"/>
          <p:cNvSpPr/>
          <p:nvPr/>
        </p:nvSpPr>
        <p:spPr>
          <a:xfrm>
            <a:off x="697209" y="4828032"/>
            <a:ext cx="237744" cy="237744"/>
          </a:xfrm>
          <a:prstGeom prst="ellipse">
            <a:avLst/>
          </a:prstGeom>
          <a:solidFill>
            <a:srgbClr val="28A745"/>
          </a:solidFill>
          <a:ln/>
        </p:spPr>
      </p:sp>
      <p:pic>
        <p:nvPicPr>
          <p:cNvPr id="26" name="Image 6" descr="preencoded.png"/>
          <p:cNvPicPr>
            <a:picLocks noChangeAspect="1"/>
          </p:cNvPicPr>
          <p:nvPr/>
        </p:nvPicPr>
        <p:blipFill>
          <a:blip r:embed="rId3"/>
          <a:stretch>
            <a:fillRect/>
          </a:stretch>
        </p:blipFill>
        <p:spPr>
          <a:xfrm>
            <a:off x="720983" y="4851806"/>
            <a:ext cx="190195" cy="190195"/>
          </a:xfrm>
          <a:prstGeom prst="rect">
            <a:avLst/>
          </a:prstGeom>
        </p:spPr>
      </p:pic>
      <p:sp>
        <p:nvSpPr>
          <p:cNvPr id="27" name="Text 18"/>
          <p:cNvSpPr/>
          <p:nvPr/>
        </p:nvSpPr>
        <p:spPr>
          <a:xfrm>
            <a:off x="1062969" y="4809744"/>
            <a:ext cx="45720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Identifies actionable levers for logistics planning</a:t>
            </a:r>
            <a:endParaRPr lang="en-US" sz="1200" dirty="0"/>
          </a:p>
        </p:txBody>
      </p:sp>
      <p:sp>
        <p:nvSpPr>
          <p:cNvPr id="28" name="Shape 19"/>
          <p:cNvSpPr/>
          <p:nvPr/>
        </p:nvSpPr>
        <p:spPr>
          <a:xfrm>
            <a:off x="697209" y="5193792"/>
            <a:ext cx="237744" cy="237744"/>
          </a:xfrm>
          <a:prstGeom prst="ellipse">
            <a:avLst/>
          </a:prstGeom>
          <a:solidFill>
            <a:srgbClr val="28A745"/>
          </a:solidFill>
          <a:ln/>
        </p:spPr>
      </p:sp>
      <p:pic>
        <p:nvPicPr>
          <p:cNvPr id="29" name="Image 7" descr="preencoded.png"/>
          <p:cNvPicPr>
            <a:picLocks noChangeAspect="1"/>
          </p:cNvPicPr>
          <p:nvPr/>
        </p:nvPicPr>
        <p:blipFill>
          <a:blip r:embed="rId3"/>
          <a:stretch>
            <a:fillRect/>
          </a:stretch>
        </p:blipFill>
        <p:spPr>
          <a:xfrm>
            <a:off x="720983" y="5217566"/>
            <a:ext cx="190195" cy="190195"/>
          </a:xfrm>
          <a:prstGeom prst="rect">
            <a:avLst/>
          </a:prstGeom>
        </p:spPr>
      </p:pic>
      <p:sp>
        <p:nvSpPr>
          <p:cNvPr id="30" name="Text 20"/>
          <p:cNvSpPr/>
          <p:nvPr/>
        </p:nvSpPr>
        <p:spPr>
          <a:xfrm>
            <a:off x="1062969" y="5175504"/>
            <a:ext cx="45720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Applicable to healthcare logistics scenarios</a:t>
            </a:r>
            <a:endParaRPr lang="en-US" sz="1200" dirty="0"/>
          </a:p>
        </p:txBody>
      </p:sp>
      <p:sp>
        <p:nvSpPr>
          <p:cNvPr id="31" name="Text 21"/>
          <p:cNvSpPr/>
          <p:nvPr/>
        </p:nvSpPr>
        <p:spPr>
          <a:xfrm>
            <a:off x="673435" y="5769864"/>
            <a:ext cx="45720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Limitations</a:t>
            </a:r>
            <a:endParaRPr lang="en-US" sz="1400" dirty="0"/>
          </a:p>
        </p:txBody>
      </p:sp>
      <p:sp>
        <p:nvSpPr>
          <p:cNvPr id="32" name="Shape 22"/>
          <p:cNvSpPr/>
          <p:nvPr/>
        </p:nvSpPr>
        <p:spPr>
          <a:xfrm>
            <a:off x="673435" y="6080760"/>
            <a:ext cx="237744" cy="237744"/>
          </a:xfrm>
          <a:prstGeom prst="ellipse">
            <a:avLst/>
          </a:prstGeom>
          <a:solidFill>
            <a:srgbClr val="F5A623"/>
          </a:solidFill>
          <a:ln/>
        </p:spPr>
      </p:sp>
      <p:pic>
        <p:nvPicPr>
          <p:cNvPr id="33" name="Image 8" descr="preencoded.png"/>
          <p:cNvPicPr>
            <a:picLocks noChangeAspect="1"/>
          </p:cNvPicPr>
          <p:nvPr/>
        </p:nvPicPr>
        <p:blipFill>
          <a:blip r:embed="rId4"/>
          <a:stretch>
            <a:fillRect/>
          </a:stretch>
        </p:blipFill>
        <p:spPr>
          <a:xfrm>
            <a:off x="697209" y="6104534"/>
            <a:ext cx="190195" cy="190195"/>
          </a:xfrm>
          <a:prstGeom prst="rect">
            <a:avLst/>
          </a:prstGeom>
        </p:spPr>
      </p:pic>
      <p:sp>
        <p:nvSpPr>
          <p:cNvPr id="34" name="Text 23"/>
          <p:cNvSpPr/>
          <p:nvPr/>
        </p:nvSpPr>
        <p:spPr>
          <a:xfrm>
            <a:off x="1039195" y="6062472"/>
            <a:ext cx="5029200" cy="320040"/>
          </a:xfrm>
          <a:prstGeom prst="rect">
            <a:avLst/>
          </a:prstGeom>
          <a:noFill/>
          <a:ln/>
        </p:spPr>
        <p:txBody>
          <a:bodyPr wrap="square" lIns="0" tIns="0" rIns="0" bIns="0" rtlCol="0" anchor="ctr"/>
          <a:lstStyle/>
          <a:p>
            <a:pPr marL="0" indent="0">
              <a:buNone/>
            </a:pPr>
            <a:r>
              <a:rPr lang="en-US" sz="1150" dirty="0">
                <a:solidFill>
                  <a:schemeClr val="bg1"/>
                </a:solidFill>
                <a:latin typeface="Calibri" pitchFamily="34" charset="0"/>
                <a:ea typeface="Calibri" pitchFamily="34" charset="-122"/>
                <a:cs typeface="Calibri" pitchFamily="34" charset="-120"/>
              </a:rPr>
              <a:t>Current model was developed using an offline dataset and does not yet incorporate real-time information such as live weather or GPS telemetry</a:t>
            </a:r>
            <a:endParaRPr lang="en-US" sz="1150" dirty="0">
              <a:solidFill>
                <a:schemeClr val="bg1"/>
              </a:solidFill>
            </a:endParaRPr>
          </a:p>
        </p:txBody>
      </p:sp>
      <p:sp>
        <p:nvSpPr>
          <p:cNvPr id="35" name="Shape 24"/>
          <p:cNvSpPr/>
          <p:nvPr/>
        </p:nvSpPr>
        <p:spPr>
          <a:xfrm>
            <a:off x="6583680" y="1280160"/>
            <a:ext cx="4846320" cy="4754880"/>
          </a:xfrm>
          <a:prstGeom prst="roundRect">
            <a:avLst>
              <a:gd name="adj" fmla="val 2308"/>
            </a:avLst>
          </a:prstGeom>
          <a:solidFill>
            <a:srgbClr val="222244"/>
          </a:solidFill>
          <a:ln/>
        </p:spPr>
      </p:sp>
      <p:sp>
        <p:nvSpPr>
          <p:cNvPr id="36" name="Text 25"/>
          <p:cNvSpPr/>
          <p:nvPr/>
        </p:nvSpPr>
        <p:spPr>
          <a:xfrm>
            <a:off x="6858000" y="1463040"/>
            <a:ext cx="4297680" cy="365760"/>
          </a:xfrm>
          <a:prstGeom prst="rect">
            <a:avLst/>
          </a:prstGeom>
          <a:noFill/>
          <a:ln/>
        </p:spPr>
        <p:txBody>
          <a:bodyPr wrap="square" lIns="0" tIns="0" rIns="0" bIns="0" rtlCol="0" anchor="ctr"/>
          <a:lstStyle/>
          <a:p>
            <a:pPr marL="0" indent="0">
              <a:buNone/>
            </a:pPr>
            <a:r>
              <a:rPr lang="en-US" sz="1800" b="1" dirty="0">
                <a:solidFill>
                  <a:srgbClr val="E60000"/>
                </a:solidFill>
                <a:latin typeface="Calibri" pitchFamily="34" charset="0"/>
                <a:ea typeface="Calibri" pitchFamily="34" charset="-122"/>
                <a:cs typeface="Calibri" pitchFamily="34" charset="-120"/>
              </a:rPr>
              <a:t>Future Work</a:t>
            </a:r>
            <a:endParaRPr lang="en-US" sz="1800" dirty="0"/>
          </a:p>
        </p:txBody>
      </p:sp>
      <p:sp>
        <p:nvSpPr>
          <p:cNvPr id="37" name="Shape 26"/>
          <p:cNvSpPr/>
          <p:nvPr/>
        </p:nvSpPr>
        <p:spPr>
          <a:xfrm>
            <a:off x="6949440" y="2011680"/>
            <a:ext cx="365760" cy="365760"/>
          </a:xfrm>
          <a:prstGeom prst="ellipse">
            <a:avLst/>
          </a:prstGeom>
          <a:solidFill>
            <a:srgbClr val="E60000"/>
          </a:solidFill>
          <a:ln/>
        </p:spPr>
      </p:sp>
      <p:pic>
        <p:nvPicPr>
          <p:cNvPr id="38" name="Image 9" descr="preencoded.png"/>
          <p:cNvPicPr>
            <a:picLocks noChangeAspect="1"/>
          </p:cNvPicPr>
          <p:nvPr/>
        </p:nvPicPr>
        <p:blipFill>
          <a:blip r:embed="rId5"/>
          <a:stretch>
            <a:fillRect/>
          </a:stretch>
        </p:blipFill>
        <p:spPr>
          <a:xfrm>
            <a:off x="6986016" y="2048256"/>
            <a:ext cx="292608" cy="292608"/>
          </a:xfrm>
          <a:prstGeom prst="rect">
            <a:avLst/>
          </a:prstGeom>
        </p:spPr>
      </p:pic>
      <p:sp>
        <p:nvSpPr>
          <p:cNvPr id="39" name="Text 27"/>
          <p:cNvSpPr/>
          <p:nvPr/>
        </p:nvSpPr>
        <p:spPr>
          <a:xfrm>
            <a:off x="7452360" y="1993392"/>
            <a:ext cx="36576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Live weather APIs</a:t>
            </a:r>
            <a:endParaRPr lang="en-US" sz="1300" dirty="0"/>
          </a:p>
        </p:txBody>
      </p:sp>
      <p:sp>
        <p:nvSpPr>
          <p:cNvPr id="40" name="Text 28"/>
          <p:cNvSpPr/>
          <p:nvPr/>
        </p:nvSpPr>
        <p:spPr>
          <a:xfrm>
            <a:off x="7452360" y="2231136"/>
            <a:ext cx="3657600" cy="274320"/>
          </a:xfrm>
          <a:prstGeom prst="rect">
            <a:avLst/>
          </a:prstGeom>
          <a:noFill/>
          <a:ln/>
        </p:spPr>
        <p:txBody>
          <a:bodyPr wrap="square" lIns="0" tIns="0" rIns="0" bIns="0" rtlCol="0" anchor="ctr"/>
          <a:lstStyle/>
          <a:p>
            <a:pPr marL="0" indent="0">
              <a:buNone/>
            </a:pPr>
            <a:r>
              <a:rPr lang="en-US" sz="1100" dirty="0">
                <a:solidFill>
                  <a:srgbClr val="999999"/>
                </a:solidFill>
                <a:latin typeface="Calibri" pitchFamily="34" charset="0"/>
                <a:ea typeface="Calibri" pitchFamily="34" charset="-122"/>
                <a:cs typeface="Calibri" pitchFamily="34" charset="-120"/>
              </a:rPr>
              <a:t>Real-time wind and temperature data for dynamic predictions</a:t>
            </a:r>
            <a:endParaRPr lang="en-US" sz="1100" dirty="0"/>
          </a:p>
        </p:txBody>
      </p:sp>
      <p:sp>
        <p:nvSpPr>
          <p:cNvPr id="41" name="Shape 29"/>
          <p:cNvSpPr/>
          <p:nvPr/>
        </p:nvSpPr>
        <p:spPr>
          <a:xfrm>
            <a:off x="6949440" y="2670048"/>
            <a:ext cx="365760" cy="365760"/>
          </a:xfrm>
          <a:prstGeom prst="ellipse">
            <a:avLst/>
          </a:prstGeom>
          <a:solidFill>
            <a:srgbClr val="E60000"/>
          </a:solidFill>
          <a:ln/>
        </p:spPr>
      </p:sp>
      <p:pic>
        <p:nvPicPr>
          <p:cNvPr id="42" name="Image 10" descr="preencoded.png"/>
          <p:cNvPicPr>
            <a:picLocks noChangeAspect="1"/>
          </p:cNvPicPr>
          <p:nvPr/>
        </p:nvPicPr>
        <p:blipFill>
          <a:blip r:embed="rId6"/>
          <a:stretch>
            <a:fillRect/>
          </a:stretch>
        </p:blipFill>
        <p:spPr>
          <a:xfrm>
            <a:off x="6986016" y="2706624"/>
            <a:ext cx="292608" cy="292608"/>
          </a:xfrm>
          <a:prstGeom prst="rect">
            <a:avLst/>
          </a:prstGeom>
        </p:spPr>
      </p:pic>
      <p:sp>
        <p:nvSpPr>
          <p:cNvPr id="43" name="Text 30"/>
          <p:cNvSpPr/>
          <p:nvPr/>
        </p:nvSpPr>
        <p:spPr>
          <a:xfrm>
            <a:off x="7452360" y="2651760"/>
            <a:ext cx="36576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GPS trajectory data</a:t>
            </a:r>
            <a:endParaRPr lang="en-US" sz="1300" dirty="0"/>
          </a:p>
        </p:txBody>
      </p:sp>
      <p:sp>
        <p:nvSpPr>
          <p:cNvPr id="44" name="Text 31"/>
          <p:cNvSpPr/>
          <p:nvPr/>
        </p:nvSpPr>
        <p:spPr>
          <a:xfrm>
            <a:off x="7452360" y="2889504"/>
            <a:ext cx="3657600" cy="274320"/>
          </a:xfrm>
          <a:prstGeom prst="rect">
            <a:avLst/>
          </a:prstGeom>
          <a:noFill/>
          <a:ln/>
        </p:spPr>
        <p:txBody>
          <a:bodyPr wrap="square" lIns="0" tIns="0" rIns="0" bIns="0" rtlCol="0" anchor="ctr"/>
          <a:lstStyle/>
          <a:p>
            <a:pPr marL="0" indent="0">
              <a:buNone/>
            </a:pPr>
            <a:r>
              <a:rPr lang="en-US" sz="1100" dirty="0">
                <a:solidFill>
                  <a:srgbClr val="999999"/>
                </a:solidFill>
                <a:latin typeface="Calibri" pitchFamily="34" charset="0"/>
                <a:ea typeface="Calibri" pitchFamily="34" charset="-122"/>
                <a:cs typeface="Calibri" pitchFamily="34" charset="-120"/>
              </a:rPr>
              <a:t>Incorporate actual flight path information</a:t>
            </a:r>
            <a:endParaRPr lang="en-US" sz="1100" dirty="0"/>
          </a:p>
        </p:txBody>
      </p:sp>
      <p:sp>
        <p:nvSpPr>
          <p:cNvPr id="45" name="Shape 32"/>
          <p:cNvSpPr/>
          <p:nvPr/>
        </p:nvSpPr>
        <p:spPr>
          <a:xfrm>
            <a:off x="6949440" y="3328416"/>
            <a:ext cx="365760" cy="365760"/>
          </a:xfrm>
          <a:prstGeom prst="ellipse">
            <a:avLst/>
          </a:prstGeom>
          <a:solidFill>
            <a:srgbClr val="E60000"/>
          </a:solidFill>
          <a:ln/>
        </p:spPr>
      </p:sp>
      <p:pic>
        <p:nvPicPr>
          <p:cNvPr id="46" name="Image 11" descr="preencoded.png"/>
          <p:cNvPicPr>
            <a:picLocks noChangeAspect="1"/>
          </p:cNvPicPr>
          <p:nvPr/>
        </p:nvPicPr>
        <p:blipFill>
          <a:blip r:embed="rId7"/>
          <a:stretch>
            <a:fillRect/>
          </a:stretch>
        </p:blipFill>
        <p:spPr>
          <a:xfrm>
            <a:off x="6986016" y="3364992"/>
            <a:ext cx="292608" cy="292608"/>
          </a:xfrm>
          <a:prstGeom prst="rect">
            <a:avLst/>
          </a:prstGeom>
        </p:spPr>
      </p:pic>
      <p:sp>
        <p:nvSpPr>
          <p:cNvPr id="47" name="Text 33"/>
          <p:cNvSpPr/>
          <p:nvPr/>
        </p:nvSpPr>
        <p:spPr>
          <a:xfrm>
            <a:off x="7452360" y="3310128"/>
            <a:ext cx="36576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IoT sensor integration</a:t>
            </a:r>
            <a:endParaRPr lang="en-US" sz="1300" dirty="0"/>
          </a:p>
        </p:txBody>
      </p:sp>
      <p:sp>
        <p:nvSpPr>
          <p:cNvPr id="48" name="Text 34"/>
          <p:cNvSpPr/>
          <p:nvPr/>
        </p:nvSpPr>
        <p:spPr>
          <a:xfrm>
            <a:off x="7452360" y="3547872"/>
            <a:ext cx="3657600" cy="274320"/>
          </a:xfrm>
          <a:prstGeom prst="rect">
            <a:avLst/>
          </a:prstGeom>
          <a:noFill/>
          <a:ln/>
        </p:spPr>
        <p:txBody>
          <a:bodyPr wrap="square" lIns="0" tIns="0" rIns="0" bIns="0" rtlCol="0" anchor="ctr"/>
          <a:lstStyle/>
          <a:p>
            <a:pPr marL="0" indent="0">
              <a:buNone/>
            </a:pPr>
            <a:r>
              <a:rPr lang="en-US" sz="1100" dirty="0">
                <a:solidFill>
                  <a:srgbClr val="999999"/>
                </a:solidFill>
                <a:latin typeface="Calibri" pitchFamily="34" charset="0"/>
                <a:ea typeface="Calibri" pitchFamily="34" charset="-122"/>
                <a:cs typeface="Calibri" pitchFamily="34" charset="-120"/>
              </a:rPr>
              <a:t>Battery health, motor performance, vibration data</a:t>
            </a:r>
            <a:endParaRPr lang="en-US" sz="1100" dirty="0"/>
          </a:p>
        </p:txBody>
      </p:sp>
      <p:sp>
        <p:nvSpPr>
          <p:cNvPr id="49" name="Shape 35"/>
          <p:cNvSpPr/>
          <p:nvPr/>
        </p:nvSpPr>
        <p:spPr>
          <a:xfrm>
            <a:off x="6949440" y="3986784"/>
            <a:ext cx="365760" cy="365760"/>
          </a:xfrm>
          <a:prstGeom prst="ellipse">
            <a:avLst/>
          </a:prstGeom>
          <a:solidFill>
            <a:srgbClr val="E60000"/>
          </a:solidFill>
          <a:ln/>
        </p:spPr>
      </p:sp>
      <p:pic>
        <p:nvPicPr>
          <p:cNvPr id="50" name="Image 12" descr="preencoded.png"/>
          <p:cNvPicPr>
            <a:picLocks noChangeAspect="1"/>
          </p:cNvPicPr>
          <p:nvPr/>
        </p:nvPicPr>
        <p:blipFill>
          <a:blip r:embed="rId8"/>
          <a:stretch>
            <a:fillRect/>
          </a:stretch>
        </p:blipFill>
        <p:spPr>
          <a:xfrm>
            <a:off x="6986016" y="4023360"/>
            <a:ext cx="292608" cy="292608"/>
          </a:xfrm>
          <a:prstGeom prst="rect">
            <a:avLst/>
          </a:prstGeom>
        </p:spPr>
      </p:pic>
      <p:sp>
        <p:nvSpPr>
          <p:cNvPr id="51" name="Text 36"/>
          <p:cNvSpPr/>
          <p:nvPr/>
        </p:nvSpPr>
        <p:spPr>
          <a:xfrm>
            <a:off x="7452360" y="3968496"/>
            <a:ext cx="36576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Real-time dashboard</a:t>
            </a:r>
            <a:endParaRPr lang="en-US" sz="1300" dirty="0"/>
          </a:p>
        </p:txBody>
      </p:sp>
      <p:sp>
        <p:nvSpPr>
          <p:cNvPr id="52" name="Text 37"/>
          <p:cNvSpPr/>
          <p:nvPr/>
        </p:nvSpPr>
        <p:spPr>
          <a:xfrm>
            <a:off x="7452360" y="4206240"/>
            <a:ext cx="3657600" cy="274320"/>
          </a:xfrm>
          <a:prstGeom prst="rect">
            <a:avLst/>
          </a:prstGeom>
          <a:noFill/>
          <a:ln/>
        </p:spPr>
        <p:txBody>
          <a:bodyPr wrap="square" lIns="0" tIns="0" rIns="0" bIns="0" rtlCol="0" anchor="ctr"/>
          <a:lstStyle/>
          <a:p>
            <a:pPr marL="0" indent="0">
              <a:buNone/>
            </a:pPr>
            <a:r>
              <a:rPr lang="en-US" sz="1100" dirty="0">
                <a:solidFill>
                  <a:srgbClr val="999999"/>
                </a:solidFill>
                <a:latin typeface="Calibri" pitchFamily="34" charset="0"/>
                <a:ea typeface="Calibri" pitchFamily="34" charset="-122"/>
                <a:cs typeface="Calibri" pitchFamily="34" charset="-120"/>
              </a:rPr>
              <a:t>Live monitoring of delivery risk for dispatchers</a:t>
            </a:r>
            <a:endParaRPr lang="en-US" sz="1100" dirty="0"/>
          </a:p>
        </p:txBody>
      </p:sp>
      <p:sp>
        <p:nvSpPr>
          <p:cNvPr id="53" name="Shape 38"/>
          <p:cNvSpPr/>
          <p:nvPr/>
        </p:nvSpPr>
        <p:spPr>
          <a:xfrm>
            <a:off x="6949440" y="4645152"/>
            <a:ext cx="365760" cy="365760"/>
          </a:xfrm>
          <a:prstGeom prst="ellipse">
            <a:avLst/>
          </a:prstGeom>
          <a:solidFill>
            <a:srgbClr val="E60000"/>
          </a:solidFill>
          <a:ln/>
        </p:spPr>
      </p:sp>
      <p:pic>
        <p:nvPicPr>
          <p:cNvPr id="54" name="Image 13" descr="preencoded.png"/>
          <p:cNvPicPr>
            <a:picLocks noChangeAspect="1"/>
          </p:cNvPicPr>
          <p:nvPr/>
        </p:nvPicPr>
        <p:blipFill>
          <a:blip r:embed="rId9"/>
          <a:stretch>
            <a:fillRect/>
          </a:stretch>
        </p:blipFill>
        <p:spPr>
          <a:xfrm>
            <a:off x="6986016" y="4681728"/>
            <a:ext cx="292608" cy="292608"/>
          </a:xfrm>
          <a:prstGeom prst="rect">
            <a:avLst/>
          </a:prstGeom>
        </p:spPr>
      </p:pic>
      <p:sp>
        <p:nvSpPr>
          <p:cNvPr id="55" name="Text 39"/>
          <p:cNvSpPr/>
          <p:nvPr/>
        </p:nvSpPr>
        <p:spPr>
          <a:xfrm>
            <a:off x="7452360" y="4626864"/>
            <a:ext cx="36576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Continuous retraining</a:t>
            </a:r>
            <a:endParaRPr lang="en-US" sz="1300" dirty="0"/>
          </a:p>
        </p:txBody>
      </p:sp>
      <p:sp>
        <p:nvSpPr>
          <p:cNvPr id="56" name="Text 40"/>
          <p:cNvSpPr/>
          <p:nvPr/>
        </p:nvSpPr>
        <p:spPr>
          <a:xfrm>
            <a:off x="7452360" y="4864608"/>
            <a:ext cx="3657600" cy="274320"/>
          </a:xfrm>
          <a:prstGeom prst="rect">
            <a:avLst/>
          </a:prstGeom>
          <a:noFill/>
          <a:ln/>
        </p:spPr>
        <p:txBody>
          <a:bodyPr wrap="square" lIns="0" tIns="0" rIns="0" bIns="0" rtlCol="0" anchor="ctr"/>
          <a:lstStyle/>
          <a:p>
            <a:pPr marL="0" indent="0">
              <a:buNone/>
            </a:pPr>
            <a:r>
              <a:rPr lang="en-US" sz="1100" dirty="0">
                <a:solidFill>
                  <a:srgbClr val="999999"/>
                </a:solidFill>
                <a:latin typeface="Calibri" pitchFamily="34" charset="0"/>
                <a:ea typeface="Calibri" pitchFamily="34" charset="-122"/>
                <a:cs typeface="Calibri" pitchFamily="34" charset="-120"/>
              </a:rPr>
              <a:t>Model updates as new delivery data accumulates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2065</Words>
  <Application>Microsoft Office PowerPoint</Application>
  <PresentationFormat>Ευρεία οθόνη</PresentationFormat>
  <Paragraphs>222</Paragraphs>
  <Slides>12</Slides>
  <Notes>12</Notes>
  <HiddenSlides>0</HiddenSlides>
  <MMClips>0</MMClips>
  <ScaleCrop>false</ScaleCrop>
  <HeadingPairs>
    <vt:vector size="6" baseType="variant">
      <vt:variant>
        <vt:lpstr>Γραμματοσειρές που χρησιμοποιούνται</vt:lpstr>
      </vt:variant>
      <vt:variant>
        <vt:i4>2</vt:i4>
      </vt:variant>
      <vt:variant>
        <vt:lpstr>Θέμα</vt:lpstr>
      </vt:variant>
      <vt:variant>
        <vt:i4>1</vt:i4>
      </vt:variant>
      <vt:variant>
        <vt:lpstr>Τίτλοι διαφανειών</vt:lpstr>
      </vt:variant>
      <vt:variant>
        <vt:i4>12</vt:i4>
      </vt:variant>
    </vt:vector>
  </HeadingPairs>
  <TitlesOfParts>
    <vt:vector size="15" baseType="lpstr">
      <vt:lpstr>Arial</vt:lpstr>
      <vt:lpstr>Calibri</vt:lpstr>
      <vt:lpstr>Office Theme</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Παρασκευή Δ</cp:lastModifiedBy>
  <cp:revision>8</cp:revision>
  <dcterms:created xsi:type="dcterms:W3CDTF">2026-07-10T10:31:00Z</dcterms:created>
  <dcterms:modified xsi:type="dcterms:W3CDTF">2026-07-10T12:32:24Z</dcterms:modified>
</cp:coreProperties>
</file>